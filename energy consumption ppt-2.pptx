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9" r:id="rId4"/>
    <p:sldId id="260" r:id="rId5"/>
    <p:sldId id="329" r:id="rId6"/>
    <p:sldId id="330" r:id="rId7"/>
    <p:sldId id="262" r:id="rId8"/>
    <p:sldId id="263" r:id="rId9"/>
    <p:sldId id="261"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8" r:id="rId24"/>
    <p:sldId id="279" r:id="rId25"/>
    <p:sldId id="280" r:id="rId26"/>
    <p:sldId id="281" r:id="rId27"/>
    <p:sldId id="290" r:id="rId28"/>
    <p:sldId id="325" r:id="rId29"/>
    <p:sldId id="326" r:id="rId30"/>
    <p:sldId id="327" r:id="rId31"/>
    <p:sldId id="328" r:id="rId32"/>
    <p:sldId id="294" r:id="rId33"/>
    <p:sldId id="295" r:id="rId34"/>
    <p:sldId id="324" r:id="rId3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629"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168DBD8-61B9-4BC1-83AA-1A583E32A8D6}" type="datetimeFigureOut">
              <a:rPr lang="en-IN" smtClean="0"/>
              <a:t>07-04-2026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AFC095F-EAEB-4AE8-BBC1-0B5181D16789}" type="slidenum">
              <a:rPr lang="en-IN" smtClean="0"/>
              <a:t>‹#›</a:t>
            </a:fld>
            <a:endParaRPr lang="en-IN"/>
          </a:p>
        </p:txBody>
      </p:sp>
    </p:spTree>
    <p:extLst>
      <p:ext uri="{BB962C8B-B14F-4D97-AF65-F5344CB8AC3E}">
        <p14:creationId xmlns:p14="http://schemas.microsoft.com/office/powerpoint/2010/main" val="3324541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FC095F-EAEB-4AE8-BBC1-0B5181D16789}" type="slidenum">
              <a:rPr lang="en-IN" smtClean="0"/>
              <a:t>4</a:t>
            </a:fld>
            <a:endParaRPr lang="en-IN"/>
          </a:p>
        </p:txBody>
      </p:sp>
    </p:spTree>
    <p:extLst>
      <p:ext uri="{BB962C8B-B14F-4D97-AF65-F5344CB8AC3E}">
        <p14:creationId xmlns:p14="http://schemas.microsoft.com/office/powerpoint/2010/main" val="1208816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64172" y="257358"/>
            <a:ext cx="8084820" cy="836930"/>
          </a:xfrm>
          <a:prstGeom prst="rect">
            <a:avLst/>
          </a:prstGeom>
        </p:spPr>
        <p:txBody>
          <a:bodyPr wrap="square" lIns="0" tIns="0" rIns="0" bIns="0">
            <a:spAutoFit/>
          </a:bodyPr>
          <a:lstStyle>
            <a:lvl1pPr>
              <a:defRPr sz="3950" b="0" i="0">
                <a:solidFill>
                  <a:srgbClr val="FF0000"/>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rgbClr val="FF000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rgbClr val="FF0000"/>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rgbClr val="FF000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963175" y="6283803"/>
            <a:ext cx="2949299" cy="446595"/>
          </a:xfrm>
          <a:prstGeom prst="rect">
            <a:avLst/>
          </a:prstGeom>
        </p:spPr>
      </p:pic>
      <p:sp>
        <p:nvSpPr>
          <p:cNvPr id="2" name="Holder 2"/>
          <p:cNvSpPr>
            <a:spLocks noGrp="1"/>
          </p:cNvSpPr>
          <p:nvPr>
            <p:ph type="title"/>
          </p:nvPr>
        </p:nvSpPr>
        <p:spPr>
          <a:xfrm>
            <a:off x="265747" y="206755"/>
            <a:ext cx="11059160" cy="1146801"/>
          </a:xfrm>
          <a:prstGeom prst="rect">
            <a:avLst/>
          </a:prstGeom>
        </p:spPr>
        <p:txBody>
          <a:bodyPr wrap="square" lIns="0" tIns="0" rIns="0" bIns="0">
            <a:spAutoFit/>
          </a:bodyPr>
          <a:lstStyle>
            <a:lvl1pPr>
              <a:defRPr sz="3950" b="0" i="0">
                <a:solidFill>
                  <a:srgbClr val="FF0000"/>
                </a:solidFill>
                <a:latin typeface="Arial"/>
                <a:cs typeface="Arial"/>
              </a:defRPr>
            </a:lvl1pPr>
          </a:lstStyle>
          <a:p>
            <a:endParaRPr/>
          </a:p>
        </p:txBody>
      </p:sp>
      <p:sp>
        <p:nvSpPr>
          <p:cNvPr id="3" name="Holder 3"/>
          <p:cNvSpPr>
            <a:spLocks noGrp="1"/>
          </p:cNvSpPr>
          <p:nvPr>
            <p:ph type="body" idx="1"/>
          </p:nvPr>
        </p:nvSpPr>
        <p:spPr>
          <a:xfrm>
            <a:off x="1032192" y="1829705"/>
            <a:ext cx="10255885" cy="4067175"/>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YaswanthNarla" TargetMode="External"/><Relationship Id="rId7" Type="http://schemas.openxmlformats.org/officeDocument/2006/relationships/hyperlink" Target="https://github.com/Shashankreddy2003" TargetMode="External"/><Relationship Id="rId2" Type="http://schemas.openxmlformats.org/officeDocument/2006/relationships/hyperlink" Target="https://www.linkedin.com/in/yaswanth-narla/" TargetMode="External"/><Relationship Id="rId1" Type="http://schemas.openxmlformats.org/officeDocument/2006/relationships/slideLayout" Target="../slideLayouts/slideLayout2.xml"/><Relationship Id="rId6" Type="http://schemas.openxmlformats.org/officeDocument/2006/relationships/hyperlink" Target="https://www.linkedin.com/in/shashank-reddy-komatireddy-ksr2310/" TargetMode="External"/><Relationship Id="rId5" Type="http://schemas.openxmlformats.org/officeDocument/2006/relationships/hyperlink" Target="https://github.com/satish-rayudu" TargetMode="External"/><Relationship Id="rId4" Type="http://schemas.openxmlformats.org/officeDocument/2006/relationships/hyperlink" Target="https://www.linkedin.com/in/satish-rayudu-03614123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1999" cy="6248400"/>
          </a:xfrm>
          <a:prstGeom prst="rect">
            <a:avLst/>
          </a:prstGeom>
        </p:spPr>
      </p:pic>
      <p:sp>
        <p:nvSpPr>
          <p:cNvPr id="3" name="object 3" descr="$PPTXTitle"/>
          <p:cNvSpPr txBox="1">
            <a:spLocks noGrp="1"/>
          </p:cNvSpPr>
          <p:nvPr>
            <p:ph type="title"/>
          </p:nvPr>
        </p:nvSpPr>
        <p:spPr>
          <a:xfrm>
            <a:off x="1714500" y="3320028"/>
            <a:ext cx="9715500" cy="478336"/>
          </a:xfrm>
          <a:prstGeom prst="rect">
            <a:avLst/>
          </a:prstGeom>
        </p:spPr>
        <p:txBody>
          <a:bodyPr vert="horz" wrap="square" lIns="0" tIns="16510" rIns="0" bIns="0" rtlCol="0">
            <a:spAutoFit/>
          </a:bodyPr>
          <a:lstStyle/>
          <a:p>
            <a:pPr marL="12700">
              <a:lnSpc>
                <a:spcPct val="100000"/>
              </a:lnSpc>
              <a:spcBef>
                <a:spcPts val="130"/>
              </a:spcBef>
            </a:pPr>
            <a:r>
              <a:rPr lang="en-IN" sz="3000" b="0" i="0" dirty="0">
                <a:solidFill>
                  <a:srgbClr val="434343"/>
                </a:solidFill>
                <a:effectLst/>
                <a:latin typeface="Arial" panose="020B0604020202020204" pitchFamily="34" charset="0"/>
                <a:cs typeface="Arial" panose="020B0604020202020204" pitchFamily="34" charset="0"/>
              </a:rPr>
              <a:t>World-wide Energy Consumption &amp; Emission Analysis</a:t>
            </a:r>
            <a:endParaRPr lang="en-IN" sz="3000" spc="85"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093E231-FF81-3647-9F69-258723B0412F}"/>
              </a:ext>
            </a:extLst>
          </p:cNvPr>
          <p:cNvSpPr txBox="1"/>
          <p:nvPr/>
        </p:nvSpPr>
        <p:spPr>
          <a:xfrm>
            <a:off x="4572000" y="4114800"/>
            <a:ext cx="3352800" cy="1338828"/>
          </a:xfrm>
          <a:prstGeom prst="rect">
            <a:avLst/>
          </a:prstGeom>
          <a:noFill/>
        </p:spPr>
        <p:txBody>
          <a:bodyPr wrap="square" rtlCol="0">
            <a:spAutoFit/>
          </a:bodyPr>
          <a:lstStyle/>
          <a:p>
            <a:pPr>
              <a:lnSpc>
                <a:spcPct val="150000"/>
              </a:lnSpc>
            </a:pPr>
            <a:r>
              <a:rPr lang="en-IN" b="1" dirty="0">
                <a:solidFill>
                  <a:srgbClr val="FF0000"/>
                </a:solidFill>
              </a:rPr>
              <a:t>           Presented by:</a:t>
            </a:r>
          </a:p>
          <a:p>
            <a:r>
              <a:rPr lang="en-IN" sz="1800" b="0" i="0" dirty="0" err="1">
                <a:solidFill>
                  <a:srgbClr val="434343"/>
                </a:solidFill>
                <a:effectLst/>
                <a:latin typeface="Roboto" panose="020F0502020204030204" pitchFamily="2" charset="0"/>
              </a:rPr>
              <a:t>Narla</a:t>
            </a:r>
            <a:r>
              <a:rPr lang="en-IN" sz="1800" b="0" i="0" dirty="0">
                <a:solidFill>
                  <a:srgbClr val="434343"/>
                </a:solidFill>
                <a:effectLst/>
                <a:latin typeface="Roboto" panose="020F0502020204030204" pitchFamily="2" charset="0"/>
              </a:rPr>
              <a:t> </a:t>
            </a:r>
            <a:r>
              <a:rPr lang="en-IN" sz="1800" b="0" i="0" dirty="0" err="1">
                <a:solidFill>
                  <a:srgbClr val="434343"/>
                </a:solidFill>
                <a:effectLst/>
                <a:latin typeface="Roboto" panose="020F0502020204030204" pitchFamily="2" charset="0"/>
              </a:rPr>
              <a:t>Yaswanth</a:t>
            </a:r>
            <a:r>
              <a:rPr lang="en-IN" sz="1800" b="0" i="0" dirty="0">
                <a:solidFill>
                  <a:srgbClr val="434343"/>
                </a:solidFill>
                <a:effectLst/>
                <a:latin typeface="Roboto" panose="020F0502020204030204" pitchFamily="2" charset="0"/>
              </a:rPr>
              <a:t> </a:t>
            </a:r>
            <a:r>
              <a:rPr lang="en-IN" sz="1800" b="0" i="0" dirty="0" err="1">
                <a:solidFill>
                  <a:srgbClr val="434343"/>
                </a:solidFill>
                <a:effectLst/>
                <a:latin typeface="Roboto" panose="020F0502020204030204" pitchFamily="2" charset="0"/>
              </a:rPr>
              <a:t>Simha</a:t>
            </a:r>
            <a:r>
              <a:rPr lang="en-IN" sz="1800" b="0" i="0" dirty="0">
                <a:solidFill>
                  <a:srgbClr val="434343"/>
                </a:solidFill>
                <a:effectLst/>
                <a:latin typeface="Roboto" panose="020F0502020204030204" pitchFamily="2" charset="0"/>
              </a:rPr>
              <a:t> Reddy</a:t>
            </a:r>
          </a:p>
          <a:p>
            <a:r>
              <a:rPr lang="en-IN" sz="1800" b="0" i="0" dirty="0">
                <a:solidFill>
                  <a:srgbClr val="434343"/>
                </a:solidFill>
                <a:effectLst/>
                <a:latin typeface="Roboto" panose="020F0502020204030204" pitchFamily="2" charset="0"/>
              </a:rPr>
              <a:t>             Satish Rayudu </a:t>
            </a:r>
          </a:p>
          <a:p>
            <a:r>
              <a:rPr lang="en-IN" sz="1800" b="0" i="0" dirty="0">
                <a:solidFill>
                  <a:srgbClr val="434343"/>
                </a:solidFill>
                <a:effectLst/>
                <a:latin typeface="Roboto" panose="020F0502020204030204" pitchFamily="2" charset="0"/>
              </a:rPr>
              <a:t>Shashank Reddy </a:t>
            </a:r>
            <a:r>
              <a:rPr lang="en-IN" sz="1800" b="0" i="0" dirty="0" err="1">
                <a:solidFill>
                  <a:srgbClr val="434343"/>
                </a:solidFill>
                <a:effectLst/>
                <a:latin typeface="Roboto" panose="020F0502020204030204" pitchFamily="2" charset="0"/>
              </a:rPr>
              <a:t>Komatireddy</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3582" y="941006"/>
            <a:ext cx="10758805" cy="4598695"/>
          </a:xfrm>
          <a:prstGeom prst="rect">
            <a:avLst/>
          </a:prstGeom>
        </p:spPr>
        <p:txBody>
          <a:bodyPr vert="horz" wrap="square" lIns="0" tIns="12700" rIns="0" bIns="0" rtlCol="0">
            <a:spAutoFit/>
          </a:bodyPr>
          <a:lstStyle/>
          <a:p>
            <a:pPr marL="330200">
              <a:spcBef>
                <a:spcPts val="75"/>
              </a:spcBef>
            </a:pPr>
            <a:r>
              <a:rPr lang="en-US" spc="-10" dirty="0">
                <a:latin typeface="Times New Roman"/>
                <a:cs typeface="Times New Roman"/>
              </a:rPr>
              <a:t>1 . Name : </a:t>
            </a:r>
            <a:r>
              <a:rPr lang="en-IN" sz="1800" b="0" i="0" dirty="0" err="1">
                <a:solidFill>
                  <a:srgbClr val="434343"/>
                </a:solidFill>
                <a:effectLst/>
                <a:latin typeface="Roboto" panose="020F0502020204030204" pitchFamily="2" charset="0"/>
              </a:rPr>
              <a:t>Narla</a:t>
            </a:r>
            <a:r>
              <a:rPr lang="en-IN" sz="1800" b="0" i="0" dirty="0">
                <a:solidFill>
                  <a:srgbClr val="434343"/>
                </a:solidFill>
                <a:effectLst/>
                <a:latin typeface="Roboto" panose="020F0502020204030204" pitchFamily="2" charset="0"/>
              </a:rPr>
              <a:t> </a:t>
            </a:r>
            <a:r>
              <a:rPr lang="en-IN" sz="1800" b="0" i="0" dirty="0" err="1">
                <a:solidFill>
                  <a:srgbClr val="434343"/>
                </a:solidFill>
                <a:effectLst/>
                <a:latin typeface="Roboto" panose="020F0502020204030204" pitchFamily="2" charset="0"/>
              </a:rPr>
              <a:t>Yaswanth</a:t>
            </a:r>
            <a:r>
              <a:rPr lang="en-IN" sz="1800" b="0" i="0" dirty="0">
                <a:solidFill>
                  <a:srgbClr val="434343"/>
                </a:solidFill>
                <a:effectLst/>
                <a:latin typeface="Roboto" panose="020F0502020204030204" pitchFamily="2" charset="0"/>
              </a:rPr>
              <a:t> </a:t>
            </a:r>
            <a:r>
              <a:rPr lang="en-IN" sz="1800" b="0" i="0" dirty="0" err="1">
                <a:solidFill>
                  <a:srgbClr val="434343"/>
                </a:solidFill>
                <a:effectLst/>
                <a:latin typeface="Roboto" panose="020F0502020204030204" pitchFamily="2" charset="0"/>
              </a:rPr>
              <a:t>Simha</a:t>
            </a:r>
            <a:r>
              <a:rPr lang="en-IN" sz="1800" b="0" i="0" dirty="0">
                <a:solidFill>
                  <a:srgbClr val="434343"/>
                </a:solidFill>
                <a:effectLst/>
                <a:latin typeface="Roboto" panose="020F0502020204030204" pitchFamily="2" charset="0"/>
              </a:rPr>
              <a:t> Reddy</a:t>
            </a:r>
            <a:endParaRPr lang="en-US" spc="-10" dirty="0">
              <a:latin typeface="Times New Roman"/>
              <a:cs typeface="Times New Roman"/>
            </a:endParaRPr>
          </a:p>
          <a:p>
            <a:pPr marL="330200">
              <a:lnSpc>
                <a:spcPct val="100000"/>
              </a:lnSpc>
              <a:spcBef>
                <a:spcPts val="75"/>
              </a:spcBef>
            </a:pPr>
            <a:r>
              <a:rPr lang="en-US" spc="-10" dirty="0">
                <a:latin typeface="Times New Roman"/>
                <a:cs typeface="Times New Roman"/>
              </a:rPr>
              <a:t>Background : </a:t>
            </a:r>
            <a:r>
              <a:rPr lang="en-US" spc="-10" dirty="0" err="1">
                <a:latin typeface="Times New Roman"/>
                <a:cs typeface="Times New Roman"/>
              </a:rPr>
              <a:t>M.Sc</a:t>
            </a:r>
            <a:r>
              <a:rPr lang="en-US" spc="-10" dirty="0">
                <a:latin typeface="Times New Roman"/>
                <a:cs typeface="Times New Roman"/>
              </a:rPr>
              <a:t> (Cloud Computing)</a:t>
            </a:r>
          </a:p>
          <a:p>
            <a:pPr marL="330200">
              <a:lnSpc>
                <a:spcPct val="100000"/>
              </a:lnSpc>
              <a:spcBef>
                <a:spcPts val="75"/>
              </a:spcBef>
            </a:pPr>
            <a:r>
              <a:rPr lang="en-US" spc="-10" dirty="0">
                <a:latin typeface="Times New Roman"/>
                <a:cs typeface="Times New Roman"/>
              </a:rPr>
              <a:t>Linked in: </a:t>
            </a:r>
            <a:r>
              <a:rPr lang="en-US" spc="-10" dirty="0">
                <a:latin typeface="Times New Roman"/>
                <a:cs typeface="Times New Roman"/>
                <a:hlinkClick r:id="rId2"/>
              </a:rPr>
              <a:t>https://www.linkedin.com/in/yaswanth-narla/</a:t>
            </a:r>
            <a:endParaRPr lang="en-US" spc="-10" dirty="0">
              <a:latin typeface="Times New Roman"/>
              <a:cs typeface="Times New Roman"/>
            </a:endParaRPr>
          </a:p>
          <a:p>
            <a:pPr marL="330200">
              <a:lnSpc>
                <a:spcPct val="100000"/>
              </a:lnSpc>
              <a:spcBef>
                <a:spcPts val="75"/>
              </a:spcBef>
            </a:pPr>
            <a:r>
              <a:rPr lang="en-US" spc="-10" dirty="0">
                <a:latin typeface="Times New Roman"/>
                <a:cs typeface="Times New Roman"/>
              </a:rPr>
              <a:t>GitHub : </a:t>
            </a:r>
            <a:r>
              <a:rPr lang="en-US" spc="-10" dirty="0">
                <a:latin typeface="Times New Roman"/>
                <a:cs typeface="Times New Roman"/>
                <a:hlinkClick r:id="rId3"/>
              </a:rPr>
              <a:t>https://github.com/YaswanthNarla</a:t>
            </a:r>
            <a:endParaRPr lang="en-US" spc="-10" dirty="0">
              <a:latin typeface="Times New Roman"/>
              <a:cs typeface="Times New Roman"/>
            </a:endParaRPr>
          </a:p>
          <a:p>
            <a:pPr marL="330200">
              <a:lnSpc>
                <a:spcPct val="100000"/>
              </a:lnSpc>
              <a:spcBef>
                <a:spcPts val="75"/>
              </a:spcBef>
            </a:pPr>
            <a:endParaRPr lang="en-US" spc="-10" dirty="0">
              <a:latin typeface="Times New Roman"/>
              <a:cs typeface="Times New Roman"/>
            </a:endParaRPr>
          </a:p>
          <a:p>
            <a:r>
              <a:rPr lang="en-US" spc="-10" dirty="0">
                <a:latin typeface="Times New Roman"/>
                <a:cs typeface="Times New Roman"/>
              </a:rPr>
              <a:t>     2. Name : </a:t>
            </a:r>
            <a:r>
              <a:rPr lang="en-IN" sz="1800" b="0" i="0" dirty="0">
                <a:solidFill>
                  <a:srgbClr val="434343"/>
                </a:solidFill>
                <a:effectLst/>
                <a:latin typeface="Roboto" panose="020F0502020204030204" pitchFamily="2" charset="0"/>
              </a:rPr>
              <a:t>Satish Rayudu </a:t>
            </a:r>
            <a:endParaRPr lang="en-IN" dirty="0"/>
          </a:p>
          <a:p>
            <a:pPr marL="330200">
              <a:lnSpc>
                <a:spcPct val="100000"/>
              </a:lnSpc>
              <a:spcBef>
                <a:spcPts val="75"/>
              </a:spcBef>
            </a:pPr>
            <a:r>
              <a:rPr lang="en-US" spc="-10" dirty="0">
                <a:latin typeface="Times New Roman"/>
                <a:cs typeface="Times New Roman"/>
              </a:rPr>
              <a:t>Background : </a:t>
            </a:r>
            <a:r>
              <a:rPr lang="en-US" spc="-10" dirty="0" err="1">
                <a:latin typeface="Times New Roman"/>
                <a:cs typeface="Times New Roman"/>
              </a:rPr>
              <a:t>B.Tech</a:t>
            </a:r>
            <a:r>
              <a:rPr lang="en-US" spc="-10" dirty="0">
                <a:latin typeface="Times New Roman"/>
                <a:cs typeface="Times New Roman"/>
              </a:rPr>
              <a:t> (Computer Science </a:t>
            </a:r>
            <a:r>
              <a:rPr lang="en-IN" b="0" i="0" dirty="0">
                <a:effectLst/>
                <a:latin typeface="gg sans"/>
              </a:rPr>
              <a:t>&amp; Engineering </a:t>
            </a:r>
            <a:r>
              <a:rPr lang="en-US" spc="-10" dirty="0">
                <a:latin typeface="Times New Roman"/>
                <a:cs typeface="Times New Roman"/>
              </a:rPr>
              <a:t>)</a:t>
            </a:r>
          </a:p>
          <a:p>
            <a:pPr marL="330200">
              <a:lnSpc>
                <a:spcPct val="100000"/>
              </a:lnSpc>
              <a:spcBef>
                <a:spcPts val="75"/>
              </a:spcBef>
            </a:pPr>
            <a:r>
              <a:rPr lang="en-US" spc="-10" dirty="0">
                <a:latin typeface="Times New Roman"/>
                <a:cs typeface="Times New Roman"/>
              </a:rPr>
              <a:t>Linked in: </a:t>
            </a:r>
            <a:r>
              <a:rPr lang="en-US" spc="-10" dirty="0">
                <a:latin typeface="Times New Roman"/>
                <a:cs typeface="Times New Roman"/>
                <a:hlinkClick r:id="rId4"/>
              </a:rPr>
              <a:t>https://www.linkedin.com/in/satish-rayudu-036141237/</a:t>
            </a:r>
            <a:endParaRPr lang="en-US" spc="-10" dirty="0">
              <a:latin typeface="Times New Roman"/>
              <a:cs typeface="Times New Roman"/>
            </a:endParaRPr>
          </a:p>
          <a:p>
            <a:pPr marL="330200">
              <a:lnSpc>
                <a:spcPct val="100000"/>
              </a:lnSpc>
              <a:spcBef>
                <a:spcPts val="75"/>
              </a:spcBef>
            </a:pPr>
            <a:r>
              <a:rPr lang="en-US" spc="-10" dirty="0">
                <a:latin typeface="Times New Roman"/>
                <a:cs typeface="Times New Roman"/>
              </a:rPr>
              <a:t>GitHub : </a:t>
            </a:r>
            <a:r>
              <a:rPr lang="en-US" spc="-10" dirty="0">
                <a:latin typeface="Times New Roman"/>
                <a:cs typeface="Times New Roman"/>
                <a:hlinkClick r:id="rId5"/>
              </a:rPr>
              <a:t>https://github.com/satish-rayudu</a:t>
            </a:r>
            <a:endParaRPr lang="en-US" spc="-10" dirty="0">
              <a:latin typeface="Times New Roman"/>
              <a:cs typeface="Times New Roman"/>
            </a:endParaRPr>
          </a:p>
          <a:p>
            <a:pPr marL="330200">
              <a:lnSpc>
                <a:spcPct val="100000"/>
              </a:lnSpc>
              <a:spcBef>
                <a:spcPts val="75"/>
              </a:spcBef>
            </a:pPr>
            <a:endParaRPr lang="en-US" spc="-10" dirty="0">
              <a:latin typeface="Times New Roman"/>
              <a:cs typeface="Times New Roman"/>
            </a:endParaRPr>
          </a:p>
          <a:p>
            <a:r>
              <a:rPr lang="en-US" spc="-10" dirty="0">
                <a:latin typeface="Times New Roman"/>
                <a:cs typeface="Times New Roman"/>
              </a:rPr>
              <a:t>     3. Name : </a:t>
            </a:r>
            <a:r>
              <a:rPr lang="en-IN" sz="1800" b="0" i="0" dirty="0">
                <a:solidFill>
                  <a:srgbClr val="434343"/>
                </a:solidFill>
                <a:effectLst/>
                <a:latin typeface="Roboto" panose="020F0502020204030204" pitchFamily="2" charset="0"/>
              </a:rPr>
              <a:t>Shashank Reddy </a:t>
            </a:r>
            <a:r>
              <a:rPr lang="en-IN" sz="1800" b="0" i="0" dirty="0" err="1">
                <a:solidFill>
                  <a:srgbClr val="434343"/>
                </a:solidFill>
                <a:effectLst/>
                <a:latin typeface="Roboto" panose="020F0502020204030204" pitchFamily="2" charset="0"/>
              </a:rPr>
              <a:t>Komatireddy</a:t>
            </a:r>
            <a:endParaRPr lang="en-IN" dirty="0"/>
          </a:p>
          <a:p>
            <a:pPr marL="330200">
              <a:lnSpc>
                <a:spcPct val="100000"/>
              </a:lnSpc>
              <a:spcBef>
                <a:spcPts val="75"/>
              </a:spcBef>
            </a:pPr>
            <a:r>
              <a:rPr lang="en-US" spc="-10" dirty="0">
                <a:latin typeface="Times New Roman"/>
                <a:cs typeface="Times New Roman"/>
              </a:rPr>
              <a:t>Background : </a:t>
            </a:r>
            <a:r>
              <a:rPr lang="en-IN" b="0" i="0" dirty="0" err="1">
                <a:effectLst/>
                <a:latin typeface="gg sans"/>
              </a:rPr>
              <a:t>B.Tech</a:t>
            </a:r>
            <a:r>
              <a:rPr lang="en-IN" b="0" i="0" dirty="0">
                <a:effectLst/>
                <a:latin typeface="gg sans"/>
              </a:rPr>
              <a:t> ( Computer Science &amp; Engineering )</a:t>
            </a:r>
          </a:p>
          <a:p>
            <a:pPr marL="330200">
              <a:lnSpc>
                <a:spcPct val="100000"/>
              </a:lnSpc>
              <a:spcBef>
                <a:spcPts val="75"/>
              </a:spcBef>
            </a:pPr>
            <a:r>
              <a:rPr lang="en-US" spc="-10" dirty="0">
                <a:latin typeface="Times New Roman"/>
                <a:cs typeface="Times New Roman"/>
              </a:rPr>
              <a:t>Linked in: </a:t>
            </a:r>
            <a:r>
              <a:rPr lang="en-US" spc="-10" dirty="0">
                <a:latin typeface="Times New Roman"/>
                <a:cs typeface="Times New Roman"/>
                <a:hlinkClick r:id="rId6"/>
              </a:rPr>
              <a:t>https://www.linkedin.com/in/shashank-reddy-komatireddy-ksr2310/</a:t>
            </a:r>
            <a:endParaRPr lang="en-US" spc="-10" dirty="0">
              <a:latin typeface="Times New Roman"/>
              <a:cs typeface="Times New Roman"/>
            </a:endParaRPr>
          </a:p>
          <a:p>
            <a:pPr marL="330200">
              <a:lnSpc>
                <a:spcPct val="100000"/>
              </a:lnSpc>
              <a:spcBef>
                <a:spcPts val="75"/>
              </a:spcBef>
            </a:pPr>
            <a:r>
              <a:rPr lang="en-US" spc="-10" dirty="0">
                <a:latin typeface="Times New Roman"/>
                <a:cs typeface="Times New Roman"/>
              </a:rPr>
              <a:t>GitHub : </a:t>
            </a:r>
            <a:r>
              <a:rPr lang="en-US" spc="-10" dirty="0">
                <a:latin typeface="Times New Roman"/>
                <a:cs typeface="Times New Roman"/>
                <a:hlinkClick r:id="rId7"/>
              </a:rPr>
              <a:t>https://github.com/Shashankreddy2003</a:t>
            </a:r>
            <a:endParaRPr lang="en-US" spc="-10" dirty="0">
              <a:latin typeface="Times New Roman"/>
              <a:cs typeface="Times New Roman"/>
            </a:endParaRPr>
          </a:p>
          <a:p>
            <a:pPr marL="330200">
              <a:lnSpc>
                <a:spcPct val="100000"/>
              </a:lnSpc>
              <a:spcBef>
                <a:spcPts val="75"/>
              </a:spcBef>
            </a:pPr>
            <a:endParaRPr lang="en-US" spc="-10" dirty="0">
              <a:latin typeface="Times New Roman"/>
              <a:cs typeface="Times New Roman"/>
            </a:endParaRPr>
          </a:p>
          <a:p>
            <a:pPr>
              <a:lnSpc>
                <a:spcPct val="100000"/>
              </a:lnSpc>
              <a:spcBef>
                <a:spcPts val="5"/>
              </a:spcBef>
            </a:pPr>
            <a:endParaRPr lang="en-US" dirty="0">
              <a:latin typeface="Times New Roman"/>
              <a:cs typeface="Times New Roman"/>
            </a:endParaRPr>
          </a:p>
        </p:txBody>
      </p:sp>
      <p:sp>
        <p:nvSpPr>
          <p:cNvPr id="3" name="object 3" descr="$PPTXTitle"/>
          <p:cNvSpPr txBox="1">
            <a:spLocks noGrp="1"/>
          </p:cNvSpPr>
          <p:nvPr>
            <p:ph type="title"/>
          </p:nvPr>
        </p:nvSpPr>
        <p:spPr>
          <a:xfrm>
            <a:off x="4999101" y="119697"/>
            <a:ext cx="2200275" cy="632460"/>
          </a:xfrm>
          <a:prstGeom prst="rect">
            <a:avLst/>
          </a:prstGeom>
        </p:spPr>
        <p:txBody>
          <a:bodyPr vert="horz" wrap="square" lIns="0" tIns="16510" rIns="0" bIns="0" rtlCol="0">
            <a:spAutoFit/>
          </a:bodyPr>
          <a:lstStyle/>
          <a:p>
            <a:pPr marL="12700">
              <a:lnSpc>
                <a:spcPct val="100000"/>
              </a:lnSpc>
              <a:spcBef>
                <a:spcPts val="130"/>
              </a:spcBef>
            </a:pPr>
            <a:r>
              <a:rPr b="1" spc="-200" dirty="0">
                <a:latin typeface="Arial"/>
                <a:cs typeface="Arial"/>
              </a:rPr>
              <a:t>About</a:t>
            </a:r>
            <a:r>
              <a:rPr lang="en-IN" b="1" spc="-50" dirty="0"/>
              <a:t> Us</a:t>
            </a:r>
            <a:endParaRPr b="1" spc="-25" dirty="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95800" y="457200"/>
            <a:ext cx="2677160" cy="632460"/>
          </a:xfrm>
          <a:prstGeom prst="rect">
            <a:avLst/>
          </a:prstGeom>
        </p:spPr>
        <p:txBody>
          <a:bodyPr vert="horz" wrap="square" lIns="0" tIns="16510" rIns="0" bIns="0" rtlCol="0">
            <a:spAutoFit/>
          </a:bodyPr>
          <a:lstStyle/>
          <a:p>
            <a:pPr marL="12700">
              <a:lnSpc>
                <a:spcPct val="100000"/>
              </a:lnSpc>
              <a:spcBef>
                <a:spcPts val="130"/>
              </a:spcBef>
            </a:pPr>
            <a:r>
              <a:rPr spc="-10" dirty="0"/>
              <a:t>Introduction</a:t>
            </a:r>
          </a:p>
        </p:txBody>
      </p:sp>
      <p:sp>
        <p:nvSpPr>
          <p:cNvPr id="3" name="object 3"/>
          <p:cNvSpPr txBox="1"/>
          <p:nvPr/>
        </p:nvSpPr>
        <p:spPr>
          <a:xfrm>
            <a:off x="762000" y="1760274"/>
            <a:ext cx="10668000" cy="3337452"/>
          </a:xfrm>
          <a:prstGeom prst="rect">
            <a:avLst/>
          </a:prstGeom>
        </p:spPr>
        <p:txBody>
          <a:bodyPr vert="horz" wrap="square" lIns="0" tIns="15875" rIns="0" bIns="0" rtlCol="0">
            <a:spAutoFit/>
          </a:bodyPr>
          <a:lstStyle/>
          <a:p>
            <a:pPr marL="298450" marR="5715" indent="-286385" algn="just">
              <a:spcBef>
                <a:spcPts val="125"/>
              </a:spcBef>
              <a:buFont typeface="Wingdings"/>
              <a:buChar char=""/>
              <a:tabLst>
                <a:tab pos="298450" algn="l"/>
              </a:tabLst>
            </a:pPr>
            <a:r>
              <a:rPr lang="en-US" dirty="0">
                <a:latin typeface="Times New Roman"/>
                <a:cs typeface="Times New Roman"/>
              </a:rPr>
              <a:t>This project focuses on analyzing global data related to </a:t>
            </a:r>
            <a:r>
              <a:rPr lang="en-US" b="1" dirty="0">
                <a:latin typeface="Times New Roman"/>
                <a:cs typeface="Times New Roman"/>
              </a:rPr>
              <a:t>energy production, energy consumption, emissions, GDP, and population </a:t>
            </a:r>
            <a:r>
              <a:rPr lang="en-US" dirty="0">
                <a:latin typeface="Times New Roman"/>
                <a:cs typeface="Times New Roman"/>
              </a:rPr>
              <a:t>using SQL.</a:t>
            </a:r>
          </a:p>
          <a:p>
            <a:pPr marL="298450" marR="5715" indent="-286385" algn="just">
              <a:lnSpc>
                <a:spcPct val="100000"/>
              </a:lnSpc>
              <a:spcBef>
                <a:spcPts val="125"/>
              </a:spcBef>
              <a:buFont typeface="Wingdings"/>
              <a:buChar char=""/>
              <a:tabLst>
                <a:tab pos="298450" algn="l"/>
              </a:tabLst>
            </a:pPr>
            <a:endParaRPr dirty="0">
              <a:latin typeface="Times New Roman"/>
              <a:cs typeface="Times New Roman"/>
            </a:endParaRPr>
          </a:p>
          <a:p>
            <a:pPr marL="298450" marR="5080" indent="-286385" algn="just">
              <a:lnSpc>
                <a:spcPct val="100000"/>
              </a:lnSpc>
              <a:spcBef>
                <a:spcPts val="5"/>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The dataset is structured across multiple interconnected tables, allowing us to study how </a:t>
            </a:r>
            <a:r>
              <a:rPr lang="en-US" b="1" dirty="0">
                <a:latin typeface="Times New Roman" panose="02020603050405020304" pitchFamily="18" charset="0"/>
                <a:cs typeface="Times New Roman" panose="02020603050405020304" pitchFamily="18" charset="0"/>
              </a:rPr>
              <a:t>energy usage patterns influence economic growth and environmental </a:t>
            </a:r>
            <a:r>
              <a:rPr lang="en-US" b="1" err="1">
                <a:latin typeface="Times New Roman" panose="02020603050405020304" pitchFamily="18" charset="0"/>
                <a:cs typeface="Times New Roman" panose="02020603050405020304" pitchFamily="18" charset="0"/>
              </a:rPr>
              <a:t>impact</a:t>
            </a:r>
            <a:r>
              <a:rPr lang="en-US">
                <a:latin typeface="Times New Roman" panose="02020603050405020304" pitchFamily="18" charset="0"/>
                <a:cs typeface="Times New Roman" panose="02020603050405020304" pitchFamily="18" charset="0"/>
              </a:rPr>
              <a:t>. </a:t>
            </a:r>
            <a:r>
              <a:rPr>
                <a:latin typeface="Times New Roman" panose="02020603050405020304" pitchFamily="18" charset="0"/>
                <a:cs typeface="Times New Roman" panose="02020603050405020304" pitchFamily="18" charset="0"/>
              </a:rPr>
              <a:t>It</a:t>
            </a:r>
            <a:r>
              <a:rPr spc="55">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helps</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track</a:t>
            </a:r>
            <a:r>
              <a:rPr spc="65"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sales,</a:t>
            </a:r>
            <a:r>
              <a:rPr b="1" spc="80"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revenue</a:t>
            </a:r>
            <a:r>
              <a:rPr spc="7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ensuring</a:t>
            </a:r>
            <a:r>
              <a:rPr spc="8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better decision-</a:t>
            </a:r>
            <a:r>
              <a:rPr dirty="0">
                <a:latin typeface="Times New Roman" panose="02020603050405020304" pitchFamily="18" charset="0"/>
                <a:cs typeface="Times New Roman" panose="02020603050405020304" pitchFamily="18" charset="0"/>
              </a:rPr>
              <a:t>making</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timely</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product</a:t>
            </a:r>
            <a:r>
              <a:rPr spc="-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availability.</a:t>
            </a:r>
            <a:endParaRPr dirty="0">
              <a:latin typeface="Times New Roman" panose="02020603050405020304" pitchFamily="18" charset="0"/>
              <a:cs typeface="Times New Roman" panose="02020603050405020304" pitchFamily="18" charset="0"/>
            </a:endParaRPr>
          </a:p>
          <a:p>
            <a:pPr marL="298450" marR="10160" indent="-286385" algn="just">
              <a:lnSpc>
                <a:spcPct val="100000"/>
              </a:lnSpc>
              <a:spcBef>
                <a:spcPts val="2105"/>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By performing queries such as </a:t>
            </a:r>
            <a:r>
              <a:rPr lang="en-US" b="1" dirty="0">
                <a:latin typeface="Times New Roman" panose="02020603050405020304" pitchFamily="18" charset="0"/>
                <a:cs typeface="Times New Roman" panose="02020603050405020304" pitchFamily="18" charset="0"/>
              </a:rPr>
              <a:t>year-over-year analysis, energy balance (production vs consumption), emission trends, and per capita calculations</a:t>
            </a:r>
            <a:r>
              <a:rPr lang="en-US" dirty="0">
                <a:latin typeface="Times New Roman" panose="02020603050405020304" pitchFamily="18" charset="0"/>
                <a:cs typeface="Times New Roman" panose="02020603050405020304" pitchFamily="18" charset="0"/>
              </a:rPr>
              <a:t>, the project uncovers meaningful patterns across countries.</a:t>
            </a:r>
          </a:p>
          <a:p>
            <a:pPr marL="298450" marR="10160" indent="-286385" algn="just">
              <a:lnSpc>
                <a:spcPct val="100000"/>
              </a:lnSpc>
              <a:spcBef>
                <a:spcPts val="2105"/>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The goal is to transform raw data into actionable insights that highlight </a:t>
            </a:r>
            <a:r>
              <a:rPr lang="en-US" b="1" dirty="0">
                <a:latin typeface="Times New Roman" panose="02020603050405020304" pitchFamily="18" charset="0"/>
                <a:cs typeface="Times New Roman" panose="02020603050405020304" pitchFamily="18" charset="0"/>
              </a:rPr>
              <a:t>sustainability challenges, economic dependencies on energy, and global emission behavior</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52400" y="377199"/>
            <a:ext cx="11059160" cy="1146801"/>
          </a:xfrm>
          <a:prstGeom prst="rect">
            <a:avLst/>
          </a:prstGeom>
        </p:spPr>
        <p:txBody>
          <a:bodyPr vert="horz" wrap="square" lIns="0" tIns="16510" rIns="0" bIns="0" rtlCol="0">
            <a:spAutoFit/>
          </a:bodyPr>
          <a:lstStyle/>
          <a:p>
            <a:pPr marL="3376929">
              <a:lnSpc>
                <a:spcPct val="100000"/>
              </a:lnSpc>
              <a:spcBef>
                <a:spcPts val="130"/>
              </a:spcBef>
            </a:pPr>
            <a:r>
              <a:rPr dirty="0"/>
              <a:t>Objective</a:t>
            </a:r>
            <a:r>
              <a:rPr spc="10" dirty="0"/>
              <a:t> </a:t>
            </a:r>
            <a:r>
              <a:rPr dirty="0"/>
              <a:t>of</a:t>
            </a:r>
            <a:r>
              <a:rPr spc="75" dirty="0"/>
              <a:t> </a:t>
            </a:r>
            <a:r>
              <a:rPr dirty="0"/>
              <a:t>the</a:t>
            </a:r>
            <a:r>
              <a:rPr spc="100" dirty="0"/>
              <a:t> </a:t>
            </a:r>
            <a:r>
              <a:rPr spc="-10" dirty="0"/>
              <a:t>Project</a:t>
            </a:r>
          </a:p>
        </p:txBody>
      </p:sp>
      <p:sp>
        <p:nvSpPr>
          <p:cNvPr id="3" name="object 3"/>
          <p:cNvSpPr txBox="1"/>
          <p:nvPr/>
        </p:nvSpPr>
        <p:spPr>
          <a:xfrm>
            <a:off x="838200" y="1752600"/>
            <a:ext cx="10972800" cy="3076483"/>
          </a:xfrm>
          <a:prstGeom prst="rect">
            <a:avLst/>
          </a:prstGeom>
        </p:spPr>
        <p:txBody>
          <a:bodyPr vert="horz" wrap="square" lIns="0" tIns="16510" rIns="0" bIns="0" rtlCol="0">
            <a:spAutoFit/>
          </a:bodyPr>
          <a:lstStyle/>
          <a:p>
            <a:pPr marL="298450" indent="-285750" algn="just">
              <a:lnSpc>
                <a:spcPct val="100000"/>
              </a:lnSpc>
              <a:spcBef>
                <a:spcPts val="130"/>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Analyze the relationship between </a:t>
            </a:r>
            <a:r>
              <a:rPr lang="en-US" b="1" dirty="0">
                <a:latin typeface="Times New Roman" panose="02020603050405020304" pitchFamily="18" charset="0"/>
                <a:cs typeface="Times New Roman" panose="02020603050405020304" pitchFamily="18" charset="0"/>
              </a:rPr>
              <a:t>energy production, consumption, and emissions</a:t>
            </a:r>
            <a:r>
              <a:rPr lang="en-US" dirty="0">
                <a:latin typeface="Times New Roman" panose="02020603050405020304" pitchFamily="18" charset="0"/>
                <a:cs typeface="Times New Roman" panose="02020603050405020304" pitchFamily="18" charset="0"/>
              </a:rPr>
              <a:t> across countries.</a:t>
            </a:r>
          </a:p>
          <a:p>
            <a:pPr marL="298450" indent="-285750" algn="just">
              <a:lnSpc>
                <a:spcPct val="100000"/>
              </a:lnSpc>
              <a:spcBef>
                <a:spcPts val="130"/>
              </a:spcBef>
              <a:buFont typeface="Wingdings"/>
              <a:buChar char=""/>
              <a:tabLst>
                <a:tab pos="298450" algn="l"/>
              </a:tabLst>
            </a:pPr>
            <a:endParaRPr dirty="0">
              <a:latin typeface="Times New Roman"/>
              <a:cs typeface="Times New Roman"/>
            </a:endParaRPr>
          </a:p>
          <a:p>
            <a:pPr marL="298450" indent="-285750" algn="just">
              <a:lnSpc>
                <a:spcPct val="100000"/>
              </a:lnSpc>
              <a:buFont typeface="Wingdings"/>
              <a:buChar char=""/>
              <a:tabLst>
                <a:tab pos="298450" algn="l"/>
              </a:tabLst>
            </a:pPr>
            <a:r>
              <a:rPr lang="en-US" dirty="0">
                <a:latin typeface="Times New Roman" panose="02020603050405020304" pitchFamily="18" charset="0"/>
                <a:cs typeface="Times New Roman" panose="02020603050405020304" pitchFamily="18" charset="0"/>
              </a:rPr>
              <a:t>Identify </a:t>
            </a:r>
            <a:r>
              <a:rPr lang="en-US" b="1" dirty="0">
                <a:latin typeface="Times New Roman" panose="02020603050405020304" pitchFamily="18" charset="0"/>
                <a:cs typeface="Times New Roman" panose="02020603050405020304" pitchFamily="18" charset="0"/>
              </a:rPr>
              <a:t>top-performing countries in GDP</a:t>
            </a:r>
            <a:r>
              <a:rPr lang="en-US" dirty="0">
                <a:latin typeface="Times New Roman" panose="02020603050405020304" pitchFamily="18" charset="0"/>
                <a:cs typeface="Times New Roman" panose="02020603050405020304" pitchFamily="18" charset="0"/>
              </a:rPr>
              <a:t> and study their energy usage patterns.</a:t>
            </a:r>
          </a:p>
          <a:p>
            <a:pPr marL="298450" indent="-285750" algn="just">
              <a:lnSpc>
                <a:spcPct val="100000"/>
              </a:lnSpc>
              <a:buFont typeface="Wingdings"/>
              <a:buChar char=""/>
              <a:tabLst>
                <a:tab pos="298450" algn="l"/>
              </a:tabLst>
            </a:pPr>
            <a:endParaRPr dirty="0">
              <a:latin typeface="Times New Roman"/>
              <a:cs typeface="Times New Roman"/>
            </a:endParaRPr>
          </a:p>
          <a:p>
            <a:pPr marL="298450" marR="9525" indent="-286385" algn="just">
              <a:lnSpc>
                <a:spcPct val="100000"/>
              </a:lnSpc>
              <a:buFont typeface="Wingdings"/>
              <a:buChar char=""/>
              <a:tabLst>
                <a:tab pos="298450" algn="l"/>
                <a:tab pos="1316355" algn="l"/>
                <a:tab pos="2361565" algn="l"/>
                <a:tab pos="3900804" algn="l"/>
                <a:tab pos="4297680" algn="l"/>
                <a:tab pos="5552440" algn="l"/>
                <a:tab pos="6019165" algn="l"/>
                <a:tab pos="7252970" algn="l"/>
                <a:tab pos="8562975" algn="l"/>
                <a:tab pos="9643745" algn="l"/>
              </a:tabLst>
            </a:pPr>
            <a:r>
              <a:rPr lang="en-US" dirty="0">
                <a:latin typeface="Times New Roman" panose="02020603050405020304" pitchFamily="18" charset="0"/>
                <a:cs typeface="Times New Roman" panose="02020603050405020304" pitchFamily="18" charset="0"/>
              </a:rPr>
              <a:t>Evaluate </a:t>
            </a:r>
            <a:r>
              <a:rPr lang="en-US" b="1" dirty="0">
                <a:latin typeface="Times New Roman" panose="02020603050405020304" pitchFamily="18" charset="0"/>
                <a:cs typeface="Times New Roman" panose="02020603050405020304" pitchFamily="18" charset="0"/>
              </a:rPr>
              <a:t>energy balance (surplus or deficit)</a:t>
            </a:r>
            <a:r>
              <a:rPr lang="en-US" dirty="0">
                <a:latin typeface="Times New Roman" panose="02020603050405020304" pitchFamily="18" charset="0"/>
                <a:cs typeface="Times New Roman" panose="02020603050405020304" pitchFamily="18" charset="0"/>
              </a:rPr>
              <a:t> using production vs consumption data.</a:t>
            </a:r>
          </a:p>
          <a:p>
            <a:pPr marL="298450" marR="9525" indent="-286385" algn="just">
              <a:lnSpc>
                <a:spcPct val="100000"/>
              </a:lnSpc>
              <a:buFont typeface="Wingdings"/>
              <a:buChar char=""/>
              <a:tabLst>
                <a:tab pos="298450" algn="l"/>
                <a:tab pos="1316355" algn="l"/>
                <a:tab pos="2361565" algn="l"/>
                <a:tab pos="3900804" algn="l"/>
                <a:tab pos="4297680" algn="l"/>
                <a:tab pos="5552440" algn="l"/>
                <a:tab pos="6019165" algn="l"/>
                <a:tab pos="7252970" algn="l"/>
                <a:tab pos="8562975" algn="l"/>
                <a:tab pos="9643745" algn="l"/>
              </a:tabLst>
            </a:pPr>
            <a:endParaRPr dirty="0">
              <a:latin typeface="Times New Roman" panose="02020603050405020304" pitchFamily="18" charset="0"/>
              <a:cs typeface="Times New Roman" panose="02020603050405020304" pitchFamily="18" charset="0"/>
            </a:endParaRPr>
          </a:p>
          <a:p>
            <a:pPr marL="298450" marR="11430" indent="-286385" algn="just">
              <a:lnSpc>
                <a:spcPct val="100000"/>
              </a:lnSpc>
              <a:buFont typeface="Wingdings"/>
              <a:buChar char=""/>
              <a:tabLst>
                <a:tab pos="298450" algn="l"/>
              </a:tabLst>
            </a:pPr>
            <a:r>
              <a:rPr lang="en-US" dirty="0">
                <a:latin typeface="Times New Roman" panose="02020603050405020304" pitchFamily="18" charset="0"/>
                <a:cs typeface="Times New Roman" panose="02020603050405020304" pitchFamily="18" charset="0"/>
              </a:rPr>
              <a:t>Examine </a:t>
            </a:r>
            <a:r>
              <a:rPr lang="en-US" b="1" dirty="0">
                <a:latin typeface="Times New Roman" panose="02020603050405020304" pitchFamily="18" charset="0"/>
                <a:cs typeface="Times New Roman" panose="02020603050405020304" pitchFamily="18" charset="0"/>
              </a:rPr>
              <a:t>year-over-year trends</a:t>
            </a:r>
            <a:r>
              <a:rPr lang="en-US" dirty="0">
                <a:latin typeface="Times New Roman" panose="02020603050405020304" pitchFamily="18" charset="0"/>
                <a:cs typeface="Times New Roman" panose="02020603050405020304" pitchFamily="18" charset="0"/>
              </a:rPr>
              <a:t> in emissions, GDP, and energy consumption.</a:t>
            </a:r>
          </a:p>
          <a:p>
            <a:pPr marL="298450" marR="11430" indent="-286385" algn="just">
              <a:lnSpc>
                <a:spcPct val="100000"/>
              </a:lnSpc>
              <a:buFont typeface="Wingdings"/>
              <a:buChar char=""/>
              <a:tabLst>
                <a:tab pos="298450" algn="l"/>
              </a:tabLst>
            </a:pPr>
            <a:endParaRPr dirty="0">
              <a:latin typeface="Times New Roman" panose="02020603050405020304" pitchFamily="18" charset="0"/>
              <a:cs typeface="Times New Roman" panose="02020603050405020304" pitchFamily="18" charset="0"/>
            </a:endParaRPr>
          </a:p>
          <a:p>
            <a:pPr marL="298450" marR="6350" indent="-286385" algn="just">
              <a:lnSpc>
                <a:spcPct val="100000"/>
              </a:lnSpc>
              <a:buFont typeface="Wingdings"/>
              <a:buChar char=""/>
              <a:tabLst>
                <a:tab pos="298450" algn="l"/>
                <a:tab pos="1374775" algn="l"/>
                <a:tab pos="2844800" algn="l"/>
                <a:tab pos="3876040" algn="l"/>
                <a:tab pos="4274185" algn="l"/>
                <a:tab pos="5235575" algn="l"/>
                <a:tab pos="6012815" algn="l"/>
                <a:tab pos="7904480" algn="l"/>
                <a:tab pos="8472170" algn="l"/>
                <a:tab pos="9518015" algn="l"/>
              </a:tabLst>
            </a:pPr>
            <a:r>
              <a:rPr lang="en-US" dirty="0">
                <a:latin typeface="Times New Roman" panose="02020603050405020304" pitchFamily="18" charset="0"/>
                <a:cs typeface="Times New Roman" panose="02020603050405020304" pitchFamily="18" charset="0"/>
              </a:rPr>
              <a:t>Perform </a:t>
            </a:r>
            <a:r>
              <a:rPr lang="en-US" b="1" dirty="0">
                <a:latin typeface="Times New Roman" panose="02020603050405020304" pitchFamily="18" charset="0"/>
                <a:cs typeface="Times New Roman" panose="02020603050405020304" pitchFamily="18" charset="0"/>
              </a:rPr>
              <a:t>per capita analysis</a:t>
            </a:r>
            <a:r>
              <a:rPr lang="en-US" dirty="0">
                <a:latin typeface="Times New Roman" panose="02020603050405020304" pitchFamily="18" charset="0"/>
                <a:cs typeface="Times New Roman" panose="02020603050405020304" pitchFamily="18" charset="0"/>
              </a:rPr>
              <a:t> to compare countries fairly.</a:t>
            </a:r>
          </a:p>
          <a:p>
            <a:pPr marL="298450" marR="6350" indent="-286385" algn="just">
              <a:lnSpc>
                <a:spcPct val="100000"/>
              </a:lnSpc>
              <a:buFont typeface="Wingdings"/>
              <a:buChar char=""/>
              <a:tabLst>
                <a:tab pos="298450" algn="l"/>
                <a:tab pos="1374775" algn="l"/>
                <a:tab pos="2844800" algn="l"/>
                <a:tab pos="3876040" algn="l"/>
                <a:tab pos="4274185" algn="l"/>
                <a:tab pos="5235575" algn="l"/>
                <a:tab pos="6012815" algn="l"/>
                <a:tab pos="7904480" algn="l"/>
                <a:tab pos="8472170" algn="l"/>
                <a:tab pos="9518015" algn="l"/>
              </a:tabLst>
            </a:pPr>
            <a:endParaRPr lang="en-US" dirty="0">
              <a:latin typeface="Times New Roman" panose="02020603050405020304" pitchFamily="18" charset="0"/>
              <a:cs typeface="Times New Roman" panose="02020603050405020304" pitchFamily="18" charset="0"/>
            </a:endParaRPr>
          </a:p>
          <a:p>
            <a:pPr marL="298450" marR="6350" indent="-286385" algn="just">
              <a:lnSpc>
                <a:spcPct val="100000"/>
              </a:lnSpc>
              <a:buFont typeface="Wingdings"/>
              <a:buChar char=""/>
              <a:tabLst>
                <a:tab pos="298450" algn="l"/>
                <a:tab pos="1374775" algn="l"/>
                <a:tab pos="2844800" algn="l"/>
                <a:tab pos="3876040" algn="l"/>
                <a:tab pos="4274185" algn="l"/>
                <a:tab pos="5235575" algn="l"/>
                <a:tab pos="6012815" algn="l"/>
                <a:tab pos="7904480" algn="l"/>
                <a:tab pos="8472170" algn="l"/>
                <a:tab pos="9518015" algn="l"/>
              </a:tabLst>
            </a:pPr>
            <a:r>
              <a:rPr lang="en-US" dirty="0">
                <a:latin typeface="Times New Roman" panose="02020603050405020304" pitchFamily="18" charset="0"/>
                <a:cs typeface="Times New Roman" panose="02020603050405020304" pitchFamily="18" charset="0"/>
              </a:rPr>
              <a:t> Calculate key metrics like </a:t>
            </a:r>
            <a:r>
              <a:rPr lang="en-US" b="1" dirty="0">
                <a:latin typeface="Times New Roman" panose="02020603050405020304" pitchFamily="18" charset="0"/>
                <a:cs typeface="Times New Roman" panose="02020603050405020304" pitchFamily="18" charset="0"/>
              </a:rPr>
              <a:t>emission-to-GDP ratio</a:t>
            </a:r>
            <a:r>
              <a:rPr lang="en-US" dirty="0">
                <a:latin typeface="Times New Roman" panose="02020603050405020304" pitchFamily="18" charset="0"/>
                <a:cs typeface="Times New Roman" panose="02020603050405020304" pitchFamily="18" charset="0"/>
              </a:rPr>
              <a:t> for deeper insights.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391751" y="182143"/>
            <a:ext cx="3449955" cy="509114"/>
          </a:xfrm>
          <a:prstGeom prst="rect">
            <a:avLst/>
          </a:prstGeom>
          <a:effectLst/>
        </p:spPr>
        <p:txBody>
          <a:bodyPr vert="horz" wrap="square" lIns="0" tIns="16510" rIns="0" bIns="0" rtlCol="0">
            <a:spAutoFit/>
          </a:bodyPr>
          <a:lstStyle/>
          <a:p>
            <a:pPr marL="12700">
              <a:lnSpc>
                <a:spcPct val="100000"/>
              </a:lnSpc>
              <a:spcBef>
                <a:spcPts val="130"/>
              </a:spcBef>
            </a:pPr>
            <a:r>
              <a:rPr sz="3200" b="1" dirty="0"/>
              <a:t>ABOUT</a:t>
            </a:r>
            <a:r>
              <a:rPr sz="3200" b="1" spc="-35" dirty="0"/>
              <a:t> </a:t>
            </a:r>
            <a:r>
              <a:rPr sz="3200" b="1" spc="-10" dirty="0"/>
              <a:t>TABLES</a:t>
            </a:r>
            <a:endParaRPr sz="3200" b="1" dirty="0"/>
          </a:p>
        </p:txBody>
      </p:sp>
      <p:sp>
        <p:nvSpPr>
          <p:cNvPr id="6" name="object 6"/>
          <p:cNvSpPr txBox="1"/>
          <p:nvPr/>
        </p:nvSpPr>
        <p:spPr>
          <a:xfrm>
            <a:off x="6781800" y="1114967"/>
            <a:ext cx="1981200" cy="289823"/>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Population</a:t>
            </a:r>
            <a:r>
              <a:rPr sz="1800" b="1" spc="-2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8" name="object 8"/>
          <p:cNvSpPr txBox="1"/>
          <p:nvPr/>
        </p:nvSpPr>
        <p:spPr>
          <a:xfrm>
            <a:off x="1371600" y="3886200"/>
            <a:ext cx="2002789" cy="289823"/>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Emission_3</a:t>
            </a:r>
            <a:r>
              <a:rPr sz="1800" b="1" spc="-1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10" name="object 10"/>
          <p:cNvSpPr txBox="1"/>
          <p:nvPr/>
        </p:nvSpPr>
        <p:spPr>
          <a:xfrm>
            <a:off x="1143000" y="1114967"/>
            <a:ext cx="1697989" cy="300355"/>
          </a:xfrm>
          <a:prstGeom prst="rect">
            <a:avLst/>
          </a:prstGeom>
        </p:spPr>
        <p:txBody>
          <a:bodyPr vert="horz" wrap="square" lIns="0" tIns="12700" rIns="0" bIns="0" rtlCol="0">
            <a:spAutoFit/>
          </a:bodyPr>
          <a:lstStyle/>
          <a:p>
            <a:pPr marL="12700">
              <a:lnSpc>
                <a:spcPct val="100000"/>
              </a:lnSpc>
              <a:spcBef>
                <a:spcPts val="100"/>
              </a:spcBef>
            </a:pPr>
            <a:r>
              <a:rPr lang="en-US" sz="1800" b="1" dirty="0">
                <a:latin typeface="Arial" panose="020B0604020202020204" pitchFamily="34" charset="0"/>
                <a:cs typeface="Arial" panose="020B0604020202020204" pitchFamily="34" charset="0"/>
              </a:rPr>
              <a:t>Country</a:t>
            </a:r>
            <a:r>
              <a:rPr lang="en-US" sz="1800" b="1" spc="-5" dirty="0">
                <a:latin typeface="Arial" panose="020B0604020202020204" pitchFamily="34" charset="0"/>
                <a:cs typeface="Arial" panose="020B0604020202020204" pitchFamily="34" charset="0"/>
              </a:rPr>
              <a:t> </a:t>
            </a:r>
            <a:r>
              <a:rPr lang="en-US" sz="1800" b="1" spc="-10" dirty="0">
                <a:latin typeface="Arial" panose="020B0604020202020204" pitchFamily="34" charset="0"/>
                <a:cs typeface="Arial" panose="020B0604020202020204" pitchFamily="34" charset="0"/>
              </a:rPr>
              <a:t>Table</a:t>
            </a:r>
            <a:endParaRPr lang="en-US" sz="18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08FEAEED-D5FB-5503-FE38-B13B6E62FBC9}"/>
              </a:ext>
            </a:extLst>
          </p:cNvPr>
          <p:cNvPicPr>
            <a:picLocks noChangeAspect="1"/>
          </p:cNvPicPr>
          <p:nvPr/>
        </p:nvPicPr>
        <p:blipFill>
          <a:blip r:embed="rId2"/>
          <a:stretch>
            <a:fillRect/>
          </a:stretch>
        </p:blipFill>
        <p:spPr>
          <a:xfrm>
            <a:off x="1518784" y="1983888"/>
            <a:ext cx="4423334" cy="756623"/>
          </a:xfrm>
          <a:prstGeom prst="rect">
            <a:avLst/>
          </a:prstGeom>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FEECD16B-1F25-02BF-7173-D788B342C0BF}"/>
              </a:ext>
            </a:extLst>
          </p:cNvPr>
          <p:cNvPicPr>
            <a:picLocks noChangeAspect="1"/>
          </p:cNvPicPr>
          <p:nvPr/>
        </p:nvPicPr>
        <p:blipFill>
          <a:blip r:embed="rId3"/>
          <a:stretch>
            <a:fillRect/>
          </a:stretch>
        </p:blipFill>
        <p:spPr>
          <a:xfrm>
            <a:off x="7010400" y="1743096"/>
            <a:ext cx="3819647" cy="997415"/>
          </a:xfrm>
          <a:prstGeom prst="rect">
            <a:avLst/>
          </a:prstGeom>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5D4CEC38-0955-0020-8AB2-8BD2AE344B3B}"/>
              </a:ext>
            </a:extLst>
          </p:cNvPr>
          <p:cNvPicPr>
            <a:picLocks noChangeAspect="1"/>
          </p:cNvPicPr>
          <p:nvPr/>
        </p:nvPicPr>
        <p:blipFill>
          <a:blip r:embed="rId4"/>
          <a:stretch>
            <a:fillRect/>
          </a:stretch>
        </p:blipFill>
        <p:spPr>
          <a:xfrm>
            <a:off x="1518784" y="4495800"/>
            <a:ext cx="4597945" cy="147992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981161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828800" y="990600"/>
            <a:ext cx="1905000" cy="289823"/>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pitchFamily="34" charset="0"/>
                <a:cs typeface="Arial" panose="020B0604020202020204" pitchFamily="34" charset="0"/>
              </a:rPr>
              <a:t>Product</a:t>
            </a:r>
            <a:r>
              <a:rPr lang="en-US" sz="1800" b="1" dirty="0">
                <a:latin typeface="Arial" panose="020B0604020202020204" pitchFamily="34" charset="0"/>
                <a:cs typeface="Arial" panose="020B0604020202020204" pitchFamily="34" charset="0"/>
              </a:rPr>
              <a:t>ion</a:t>
            </a:r>
            <a:r>
              <a:rPr sz="1800" b="1" spc="-45" dirty="0">
                <a:latin typeface="Arial" panose="020B0604020202020204" pitchFamily="34" charset="0"/>
                <a:cs typeface="Arial" panose="020B0604020202020204" pitchFamily="34" charset="0"/>
              </a:rPr>
              <a:t> </a:t>
            </a:r>
            <a:r>
              <a:rPr sz="1800" b="1" spc="-2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5" name="object 5"/>
          <p:cNvSpPr txBox="1"/>
          <p:nvPr/>
        </p:nvSpPr>
        <p:spPr>
          <a:xfrm>
            <a:off x="7118987" y="990600"/>
            <a:ext cx="1339215" cy="300355"/>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gdp_3</a:t>
            </a:r>
            <a:r>
              <a:rPr sz="1800" b="1" spc="-3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36AC9970-8233-7A65-40A7-F971553CA860}"/>
              </a:ext>
            </a:extLst>
          </p:cNvPr>
          <p:cNvSpPr txBox="1"/>
          <p:nvPr/>
        </p:nvSpPr>
        <p:spPr>
          <a:xfrm>
            <a:off x="1676400" y="3731892"/>
            <a:ext cx="2743962" cy="369332"/>
          </a:xfrm>
          <a:prstGeom prst="rect">
            <a:avLst/>
          </a:prstGeom>
          <a:noFill/>
        </p:spPr>
        <p:txBody>
          <a:bodyPr wrap="square">
            <a:spAutoFit/>
          </a:bodyPr>
          <a:lstStyle/>
          <a:p>
            <a:pPr marL="12700">
              <a:lnSpc>
                <a:spcPct val="100000"/>
              </a:lnSpc>
              <a:spcBef>
                <a:spcPts val="100"/>
              </a:spcBef>
            </a:pPr>
            <a:r>
              <a:rPr lang="en-IN" b="1" dirty="0" err="1">
                <a:latin typeface="Arial" panose="020B0604020202020204" pitchFamily="34" charset="0"/>
                <a:cs typeface="Arial" panose="020B0604020202020204" pitchFamily="34" charset="0"/>
              </a:rPr>
              <a:t>C</a:t>
            </a:r>
            <a:r>
              <a:rPr lang="en-IN" sz="1800" b="1" dirty="0" err="1">
                <a:latin typeface="Arial" panose="020B0604020202020204" pitchFamily="34" charset="0"/>
                <a:cs typeface="Arial" panose="020B0604020202020204" pitchFamily="34" charset="0"/>
              </a:rPr>
              <a:t>onsumption</a:t>
            </a:r>
            <a:r>
              <a:rPr lang="en-IN" sz="1800" b="1" spc="-10" dirty="0" err="1">
                <a:latin typeface="Arial" panose="020B0604020202020204" pitchFamily="34" charset="0"/>
                <a:cs typeface="Arial" panose="020B0604020202020204" pitchFamily="34" charset="0"/>
              </a:rPr>
              <a:t>Table</a:t>
            </a:r>
            <a:endParaRPr lang="en-IN" sz="1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05B14912-F57C-D48A-4A85-A41B3E32E6A1}"/>
              </a:ext>
            </a:extLst>
          </p:cNvPr>
          <p:cNvPicPr>
            <a:picLocks noChangeAspect="1"/>
          </p:cNvPicPr>
          <p:nvPr/>
        </p:nvPicPr>
        <p:blipFill>
          <a:blip r:embed="rId2"/>
          <a:stretch>
            <a:fillRect/>
          </a:stretch>
        </p:blipFill>
        <p:spPr>
          <a:xfrm>
            <a:off x="1949079" y="1531743"/>
            <a:ext cx="3254306" cy="1031625"/>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DA71EDFF-CC28-BB70-E8E1-6B6C71EA458F}"/>
              </a:ext>
            </a:extLst>
          </p:cNvPr>
          <p:cNvPicPr>
            <a:picLocks noChangeAspect="1"/>
          </p:cNvPicPr>
          <p:nvPr/>
        </p:nvPicPr>
        <p:blipFill>
          <a:blip r:embed="rId3"/>
          <a:stretch>
            <a:fillRect/>
          </a:stretch>
        </p:blipFill>
        <p:spPr>
          <a:xfrm>
            <a:off x="7239000" y="1531743"/>
            <a:ext cx="3894851" cy="973713"/>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439DFDCC-E697-CB0C-AD5A-C2F2A7DF0088}"/>
              </a:ext>
            </a:extLst>
          </p:cNvPr>
          <p:cNvPicPr>
            <a:picLocks noChangeAspect="1"/>
          </p:cNvPicPr>
          <p:nvPr/>
        </p:nvPicPr>
        <p:blipFill>
          <a:blip r:embed="rId4"/>
          <a:stretch>
            <a:fillRect/>
          </a:stretch>
        </p:blipFill>
        <p:spPr>
          <a:xfrm>
            <a:off x="1883430" y="4446715"/>
            <a:ext cx="3385604" cy="103162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67277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27279" y="535750"/>
            <a:ext cx="3962400" cy="355225"/>
          </a:xfrm>
          <a:prstGeom prst="rect">
            <a:avLst/>
          </a:prstGeom>
        </p:spPr>
        <p:txBody>
          <a:bodyPr vert="horz" wrap="square" lIns="0" tIns="16510" rIns="0" bIns="0" rtlCol="0">
            <a:spAutoFit/>
          </a:bodyPr>
          <a:lstStyle/>
          <a:p>
            <a:r>
              <a:rPr lang="en-US" sz="2200" b="1" dirty="0">
                <a:solidFill>
                  <a:srgbClr val="FF0000"/>
                </a:solidFill>
                <a:latin typeface="Arial" panose="020B0604020202020204" pitchFamily="34" charset="0"/>
                <a:cs typeface="Arial" panose="020B0604020202020204" pitchFamily="34" charset="0"/>
              </a:rPr>
              <a:t>Sample inserted values:</a:t>
            </a:r>
            <a:endParaRPr lang="en-IN" sz="2200" b="1" dirty="0">
              <a:solidFill>
                <a:srgbClr val="FF0000"/>
              </a:solidFill>
              <a:latin typeface="Arial" panose="020B0604020202020204" pitchFamily="34" charset="0"/>
              <a:cs typeface="Arial" panose="020B0604020202020204" pitchFamily="34" charset="0"/>
            </a:endParaRPr>
          </a:p>
        </p:txBody>
      </p:sp>
      <p:sp>
        <p:nvSpPr>
          <p:cNvPr id="6" name="object 6"/>
          <p:cNvSpPr txBox="1"/>
          <p:nvPr/>
        </p:nvSpPr>
        <p:spPr>
          <a:xfrm>
            <a:off x="6705600" y="1154586"/>
            <a:ext cx="1968342" cy="289823"/>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Population</a:t>
            </a:r>
            <a:r>
              <a:rPr sz="1800" b="1" spc="-25" dirty="0">
                <a:latin typeface="Times New Roman"/>
                <a:cs typeface="Times New Roman"/>
              </a:rPr>
              <a:t> </a:t>
            </a:r>
            <a:r>
              <a:rPr sz="1800" b="1" spc="-10" dirty="0">
                <a:latin typeface="Times New Roman"/>
                <a:cs typeface="Times New Roman"/>
              </a:rPr>
              <a:t>Table</a:t>
            </a:r>
            <a:endParaRPr sz="1800" dirty="0">
              <a:latin typeface="Times New Roman"/>
              <a:cs typeface="Times New Roman"/>
            </a:endParaRPr>
          </a:p>
        </p:txBody>
      </p:sp>
      <p:sp>
        <p:nvSpPr>
          <p:cNvPr id="8" name="object 8"/>
          <p:cNvSpPr txBox="1"/>
          <p:nvPr/>
        </p:nvSpPr>
        <p:spPr>
          <a:xfrm>
            <a:off x="1165733" y="4188419"/>
            <a:ext cx="2002789" cy="289823"/>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Emission_3</a:t>
            </a:r>
            <a:r>
              <a:rPr sz="1800" b="1" spc="-1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10" name="object 10"/>
          <p:cNvSpPr txBox="1"/>
          <p:nvPr/>
        </p:nvSpPr>
        <p:spPr>
          <a:xfrm>
            <a:off x="1144397" y="1196743"/>
            <a:ext cx="1697989" cy="300355"/>
          </a:xfrm>
          <a:prstGeom prst="rect">
            <a:avLst/>
          </a:prstGeom>
        </p:spPr>
        <p:txBody>
          <a:bodyPr vert="horz" wrap="square" lIns="0" tIns="12700" rIns="0" bIns="0" rtlCol="0">
            <a:spAutoFit/>
          </a:bodyPr>
          <a:lstStyle/>
          <a:p>
            <a:pPr marL="12700">
              <a:lnSpc>
                <a:spcPct val="100000"/>
              </a:lnSpc>
              <a:spcBef>
                <a:spcPts val="100"/>
              </a:spcBef>
            </a:pPr>
            <a:r>
              <a:rPr lang="en-US" sz="1800" b="1" dirty="0">
                <a:latin typeface="Arial" panose="020B0604020202020204" pitchFamily="34" charset="0"/>
                <a:cs typeface="Arial" panose="020B0604020202020204" pitchFamily="34" charset="0"/>
              </a:rPr>
              <a:t>Country</a:t>
            </a:r>
            <a:r>
              <a:rPr lang="en-US" sz="1800" b="1" spc="-5" dirty="0">
                <a:latin typeface="Arial" panose="020B0604020202020204" pitchFamily="34" charset="0"/>
                <a:cs typeface="Arial" panose="020B0604020202020204" pitchFamily="34" charset="0"/>
              </a:rPr>
              <a:t> </a:t>
            </a:r>
            <a:r>
              <a:rPr lang="en-US" sz="1800" b="1" spc="-10" dirty="0">
                <a:latin typeface="Arial" panose="020B0604020202020204" pitchFamily="34" charset="0"/>
                <a:cs typeface="Arial" panose="020B0604020202020204" pitchFamily="34" charset="0"/>
              </a:rPr>
              <a:t>Table</a:t>
            </a:r>
            <a:endParaRPr lang="en-US"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B078108-EB85-4F0C-FC03-CEAD8E0DA4FE}"/>
              </a:ext>
            </a:extLst>
          </p:cNvPr>
          <p:cNvPicPr>
            <a:picLocks noChangeAspect="1"/>
          </p:cNvPicPr>
          <p:nvPr/>
        </p:nvPicPr>
        <p:blipFill>
          <a:blip r:embed="rId2"/>
          <a:stretch>
            <a:fillRect/>
          </a:stretch>
        </p:blipFill>
        <p:spPr>
          <a:xfrm>
            <a:off x="1473468" y="1846147"/>
            <a:ext cx="1957373" cy="1967360"/>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0CC7AF23-DBD8-5CD4-D13A-E2FDFC69A6F7}"/>
              </a:ext>
            </a:extLst>
          </p:cNvPr>
          <p:cNvPicPr>
            <a:picLocks noChangeAspect="1"/>
          </p:cNvPicPr>
          <p:nvPr/>
        </p:nvPicPr>
        <p:blipFill>
          <a:blip r:embed="rId3"/>
          <a:stretch>
            <a:fillRect/>
          </a:stretch>
        </p:blipFill>
        <p:spPr>
          <a:xfrm>
            <a:off x="1376916" y="4724400"/>
            <a:ext cx="6643814" cy="1891160"/>
          </a:xfrm>
          <a:prstGeom prst="rect">
            <a:avLst/>
          </a:prstGeom>
          <a:effectLst>
            <a:outerShdw blurRad="50800" dist="38100" dir="2700000" algn="tl" rotWithShape="0">
              <a:prstClr val="black">
                <a:alpha val="40000"/>
              </a:prstClr>
            </a:outerShdw>
          </a:effectLst>
        </p:spPr>
      </p:pic>
      <p:pic>
        <p:nvPicPr>
          <p:cNvPr id="13" name="Picture 12">
            <a:extLst>
              <a:ext uri="{FF2B5EF4-FFF2-40B4-BE49-F238E27FC236}">
                <a16:creationId xmlns:a16="http://schemas.microsoft.com/office/drawing/2014/main" id="{08D145D7-A784-0D05-C13E-3BED76CCB6F4}"/>
              </a:ext>
            </a:extLst>
          </p:cNvPr>
          <p:cNvPicPr>
            <a:picLocks noChangeAspect="1"/>
          </p:cNvPicPr>
          <p:nvPr/>
        </p:nvPicPr>
        <p:blipFill>
          <a:blip r:embed="rId4"/>
          <a:stretch>
            <a:fillRect/>
          </a:stretch>
        </p:blipFill>
        <p:spPr>
          <a:xfrm>
            <a:off x="6972998" y="1790278"/>
            <a:ext cx="2795723" cy="196736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71600" y="840422"/>
            <a:ext cx="1905000" cy="289823"/>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pitchFamily="34" charset="0"/>
                <a:cs typeface="Arial" panose="020B0604020202020204" pitchFamily="34" charset="0"/>
              </a:rPr>
              <a:t>Product</a:t>
            </a:r>
            <a:r>
              <a:rPr lang="en-US" sz="1800" b="1" dirty="0">
                <a:latin typeface="Arial" panose="020B0604020202020204" pitchFamily="34" charset="0"/>
                <a:cs typeface="Arial" panose="020B0604020202020204" pitchFamily="34" charset="0"/>
              </a:rPr>
              <a:t>ion</a:t>
            </a:r>
            <a:r>
              <a:rPr sz="1800" b="1" spc="-45" dirty="0">
                <a:latin typeface="Arial" panose="020B0604020202020204" pitchFamily="34" charset="0"/>
                <a:cs typeface="Arial" panose="020B0604020202020204" pitchFamily="34" charset="0"/>
              </a:rPr>
              <a:t> </a:t>
            </a:r>
            <a:r>
              <a:rPr sz="1800" b="1" spc="-2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5" name="object 5"/>
          <p:cNvSpPr txBox="1"/>
          <p:nvPr/>
        </p:nvSpPr>
        <p:spPr>
          <a:xfrm>
            <a:off x="7696200" y="829890"/>
            <a:ext cx="1339215" cy="300355"/>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gdp_3</a:t>
            </a:r>
            <a:r>
              <a:rPr sz="1800" b="1" spc="-3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12B1D41B-E719-0EE6-3D24-495F9C0A6727}"/>
              </a:ext>
            </a:extLst>
          </p:cNvPr>
          <p:cNvPicPr>
            <a:picLocks noChangeAspect="1"/>
          </p:cNvPicPr>
          <p:nvPr/>
        </p:nvPicPr>
        <p:blipFill>
          <a:blip r:embed="rId2"/>
          <a:stretch>
            <a:fillRect/>
          </a:stretch>
        </p:blipFill>
        <p:spPr>
          <a:xfrm>
            <a:off x="7924800" y="1529080"/>
            <a:ext cx="2743200" cy="1930400"/>
          </a:xfrm>
          <a:prstGeom prst="rect">
            <a:avLst/>
          </a:prstGeom>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36AC9970-8233-7A65-40A7-F971553CA860}"/>
              </a:ext>
            </a:extLst>
          </p:cNvPr>
          <p:cNvSpPr txBox="1"/>
          <p:nvPr/>
        </p:nvSpPr>
        <p:spPr>
          <a:xfrm>
            <a:off x="1350264" y="3700010"/>
            <a:ext cx="2743962" cy="369332"/>
          </a:xfrm>
          <a:prstGeom prst="rect">
            <a:avLst/>
          </a:prstGeom>
          <a:noFill/>
        </p:spPr>
        <p:txBody>
          <a:bodyPr wrap="square">
            <a:spAutoFit/>
          </a:bodyPr>
          <a:lstStyle/>
          <a:p>
            <a:pPr marL="12700">
              <a:lnSpc>
                <a:spcPct val="100000"/>
              </a:lnSpc>
              <a:spcBef>
                <a:spcPts val="100"/>
              </a:spcBef>
            </a:pPr>
            <a:r>
              <a:rPr lang="en-IN" b="1" dirty="0" err="1">
                <a:latin typeface="Arial" panose="020B0604020202020204" pitchFamily="34" charset="0"/>
                <a:cs typeface="Arial" panose="020B0604020202020204" pitchFamily="34" charset="0"/>
              </a:rPr>
              <a:t>C</a:t>
            </a:r>
            <a:r>
              <a:rPr lang="en-IN" sz="1800" b="1" dirty="0" err="1">
                <a:latin typeface="Arial" panose="020B0604020202020204" pitchFamily="34" charset="0"/>
                <a:cs typeface="Arial" panose="020B0604020202020204" pitchFamily="34" charset="0"/>
              </a:rPr>
              <a:t>onsumption</a:t>
            </a:r>
            <a:r>
              <a:rPr lang="en-IN" sz="1800" b="1" spc="-10" dirty="0" err="1">
                <a:latin typeface="Arial" panose="020B0604020202020204" pitchFamily="34" charset="0"/>
                <a:cs typeface="Arial" panose="020B0604020202020204" pitchFamily="34" charset="0"/>
              </a:rPr>
              <a:t>Table</a:t>
            </a:r>
            <a:endParaRPr lang="en-IN" sz="1800" dirty="0">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DC60D3E5-F1EA-B962-0E91-4A668C77CAE9}"/>
              </a:ext>
            </a:extLst>
          </p:cNvPr>
          <p:cNvPicPr>
            <a:picLocks noChangeAspect="1"/>
          </p:cNvPicPr>
          <p:nvPr/>
        </p:nvPicPr>
        <p:blipFill>
          <a:blip r:embed="rId3"/>
          <a:stretch>
            <a:fillRect/>
          </a:stretch>
        </p:blipFill>
        <p:spPr>
          <a:xfrm>
            <a:off x="1712976" y="4340352"/>
            <a:ext cx="4209826" cy="1899920"/>
          </a:xfrm>
          <a:prstGeom prst="rect">
            <a:avLst/>
          </a:prstGeom>
          <a:effectLst>
            <a:outerShdw blurRad="50800" dist="38100" dir="2700000" algn="tl" rotWithShape="0">
              <a:prstClr val="black">
                <a:alpha val="40000"/>
              </a:prstClr>
            </a:outerShdw>
          </a:effectLst>
        </p:spPr>
      </p:pic>
      <p:pic>
        <p:nvPicPr>
          <p:cNvPr id="21" name="Picture 20">
            <a:extLst>
              <a:ext uri="{FF2B5EF4-FFF2-40B4-BE49-F238E27FC236}">
                <a16:creationId xmlns:a16="http://schemas.microsoft.com/office/drawing/2014/main" id="{4DE3C5ED-22A2-87C1-431C-1E4B278FF8D8}"/>
              </a:ext>
            </a:extLst>
          </p:cNvPr>
          <p:cNvPicPr>
            <a:picLocks noChangeAspect="1"/>
          </p:cNvPicPr>
          <p:nvPr/>
        </p:nvPicPr>
        <p:blipFill>
          <a:blip r:embed="rId4"/>
          <a:stretch>
            <a:fillRect/>
          </a:stretch>
        </p:blipFill>
        <p:spPr>
          <a:xfrm>
            <a:off x="1676400" y="1529080"/>
            <a:ext cx="4057121" cy="189992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6510" rIns="0" bIns="0" rtlCol="0">
            <a:spAutoFit/>
          </a:bodyPr>
          <a:lstStyle/>
          <a:p>
            <a:pPr marL="2458720">
              <a:lnSpc>
                <a:spcPct val="100000"/>
              </a:lnSpc>
              <a:spcBef>
                <a:spcPts val="130"/>
              </a:spcBef>
            </a:pPr>
            <a:r>
              <a:rPr sz="3200" b="1" dirty="0">
                <a:latin typeface="Arial"/>
                <a:cs typeface="Arial"/>
              </a:rPr>
              <a:t>ER</a:t>
            </a:r>
            <a:r>
              <a:rPr sz="3200" b="1" spc="-165" dirty="0">
                <a:latin typeface="Arial"/>
                <a:cs typeface="Arial"/>
              </a:rPr>
              <a:t> </a:t>
            </a:r>
            <a:r>
              <a:rPr sz="3200" b="1" spc="-85" dirty="0">
                <a:latin typeface="Arial"/>
                <a:cs typeface="Arial"/>
              </a:rPr>
              <a:t>Diagram</a:t>
            </a:r>
            <a:r>
              <a:rPr sz="3200" b="1" spc="-60" dirty="0">
                <a:latin typeface="Arial"/>
                <a:cs typeface="Arial"/>
              </a:rPr>
              <a:t> </a:t>
            </a:r>
            <a:r>
              <a:rPr sz="3200" b="1" spc="-70" dirty="0">
                <a:latin typeface="Arial"/>
                <a:cs typeface="Arial"/>
              </a:rPr>
              <a:t>and</a:t>
            </a:r>
            <a:r>
              <a:rPr sz="3200" b="1" spc="-65" dirty="0">
                <a:latin typeface="Arial"/>
                <a:cs typeface="Arial"/>
              </a:rPr>
              <a:t> </a:t>
            </a:r>
            <a:r>
              <a:rPr sz="3200" b="1" spc="-114" dirty="0">
                <a:latin typeface="Arial"/>
                <a:cs typeface="Arial"/>
              </a:rPr>
              <a:t>schema</a:t>
            </a:r>
            <a:r>
              <a:rPr sz="3200" b="1" spc="-105" dirty="0">
                <a:latin typeface="Arial"/>
                <a:cs typeface="Arial"/>
              </a:rPr>
              <a:t> </a:t>
            </a:r>
            <a:r>
              <a:rPr sz="3200" b="1" spc="-100" dirty="0">
                <a:latin typeface="Arial"/>
                <a:cs typeface="Arial"/>
              </a:rPr>
              <a:t>explanation</a:t>
            </a:r>
            <a:endParaRPr sz="3200" dirty="0">
              <a:latin typeface="Arial"/>
              <a:cs typeface="Arial"/>
            </a:endParaRPr>
          </a:p>
        </p:txBody>
      </p:sp>
      <p:sp>
        <p:nvSpPr>
          <p:cNvPr id="7" name="TextBox 6">
            <a:extLst>
              <a:ext uri="{FF2B5EF4-FFF2-40B4-BE49-F238E27FC236}">
                <a16:creationId xmlns:a16="http://schemas.microsoft.com/office/drawing/2014/main" id="{B2EFD364-08B9-A32D-558D-0339C7A51A5B}"/>
              </a:ext>
            </a:extLst>
          </p:cNvPr>
          <p:cNvSpPr txBox="1"/>
          <p:nvPr/>
        </p:nvSpPr>
        <p:spPr>
          <a:xfrm>
            <a:off x="516651" y="1720840"/>
            <a:ext cx="5105400" cy="3416320"/>
          </a:xfrm>
          <a:prstGeom prst="rect">
            <a:avLst/>
          </a:prstGeom>
          <a:noFill/>
        </p:spPr>
        <p:txBody>
          <a:bodyPr wrap="square" rtlCol="0">
            <a:spAutoFit/>
          </a:bodyPr>
          <a:lstStyle/>
          <a:p>
            <a:r>
              <a:rPr lang="en-IN" b="1" dirty="0">
                <a:solidFill>
                  <a:srgbClr val="FF0000"/>
                </a:solidFill>
                <a:latin typeface="Arial"/>
                <a:cs typeface="Arial"/>
              </a:rPr>
              <a:t>Table relations:</a:t>
            </a:r>
            <a:endParaRPr lang="en-IN" dirty="0">
              <a:solidFill>
                <a:srgbClr val="FF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emission_3</a:t>
            </a:r>
            <a:r>
              <a:rPr lang="en-US" b="1"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population</a:t>
            </a:r>
            <a:r>
              <a:rPr lang="en-US" b="1"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production</a:t>
            </a:r>
          </a:p>
          <a:p>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consumption</a:t>
            </a:r>
          </a:p>
          <a:p>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gdp_3</a:t>
            </a:r>
            <a:r>
              <a:rPr lang="en-US" b="1"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4879BD6-B803-E133-393C-D8EFC7AF0250}"/>
              </a:ext>
            </a:extLst>
          </p:cNvPr>
          <p:cNvPicPr>
            <a:picLocks noChangeAspect="1"/>
          </p:cNvPicPr>
          <p:nvPr/>
        </p:nvPicPr>
        <p:blipFill>
          <a:blip r:embed="rId2"/>
          <a:stretch>
            <a:fillRect/>
          </a:stretch>
        </p:blipFill>
        <p:spPr>
          <a:xfrm>
            <a:off x="5622051" y="1301394"/>
            <a:ext cx="6036549" cy="42805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50450" y="508595"/>
            <a:ext cx="11313932" cy="939360"/>
          </a:xfrm>
          <a:prstGeom prst="rect">
            <a:avLst/>
          </a:prstGeom>
          <a:solidFill>
            <a:schemeClr val="bg1"/>
          </a:solidFill>
        </p:spPr>
        <p:txBody>
          <a:bodyPr vert="horz" wrap="square" lIns="0" tIns="15875" rIns="0" bIns="0" rtlCol="0">
            <a:spAutoFit/>
          </a:bodyPr>
          <a:lstStyle/>
          <a:p>
            <a:pPr marL="12700">
              <a:lnSpc>
                <a:spcPct val="100000"/>
              </a:lnSpc>
              <a:spcBef>
                <a:spcPts val="125"/>
              </a:spcBef>
            </a:pPr>
            <a:r>
              <a:rPr lang="en-US" sz="2000" b="1" dirty="0">
                <a:solidFill>
                  <a:schemeClr val="accent4">
                    <a:lumMod val="50000"/>
                  </a:schemeClr>
                </a:solidFill>
                <a:latin typeface="Times New Roman" panose="02020603050405020304" pitchFamily="18" charset="0"/>
                <a:cs typeface="Times New Roman" panose="02020603050405020304" pitchFamily="18" charset="0"/>
              </a:rPr>
              <a:t>General &amp; Comparative Analysis.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sz="2000" b="1" dirty="0">
                <a:latin typeface="Arial" panose="020B0604020202020204" pitchFamily="34" charset="0"/>
                <a:cs typeface="Arial" panose="020B0604020202020204" pitchFamily="34" charset="0"/>
              </a:rPr>
              <a:t>1.</a:t>
            </a:r>
            <a:r>
              <a:rPr sz="2000" b="1" spc="15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total emission per country for the most recent year available?</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778975" y="1834849"/>
            <a:ext cx="71755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a:latin typeface="Times New Roman"/>
              <a:cs typeface="Times New Roman"/>
            </a:endParaRPr>
          </a:p>
        </p:txBody>
      </p:sp>
      <p:sp>
        <p:nvSpPr>
          <p:cNvPr id="5" name="object 5"/>
          <p:cNvSpPr txBox="1"/>
          <p:nvPr/>
        </p:nvSpPr>
        <p:spPr>
          <a:xfrm>
            <a:off x="8534400" y="1634389"/>
            <a:ext cx="81788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E031381C-DE13-477F-AF55-4B70FE314463}"/>
              </a:ext>
            </a:extLst>
          </p:cNvPr>
          <p:cNvSpPr txBox="1"/>
          <p:nvPr/>
        </p:nvSpPr>
        <p:spPr>
          <a:xfrm>
            <a:off x="680930" y="4964573"/>
            <a:ext cx="9774332" cy="1200329"/>
          </a:xfrm>
          <a:prstGeom prst="rect">
            <a:avLst/>
          </a:prstGeom>
          <a:solidFill>
            <a:schemeClr val="bg1"/>
          </a:solid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p>
          <a:p>
            <a:endParaRPr lang="en-IN" dirty="0">
              <a:latin typeface="Times New Roman" panose="02020603050405020304" pitchFamily="18" charset="0"/>
              <a:cs typeface="Times New Roman" panose="02020603050405020304" pitchFamily="18" charset="0"/>
            </a:endParaRPr>
          </a:p>
          <a:p>
            <a:r>
              <a:rPr lang="en-US" dirty="0"/>
              <a:t>The total emissions differ widely across countries in the most recent year, with a few countries contributing significantly higher emissions while many others have relatively low levels.</a:t>
            </a:r>
            <a:endParaRPr lang="en-IN"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057E0EC4-01AF-FB0C-27C8-6E36B2799198}"/>
              </a:ext>
            </a:extLst>
          </p:cNvPr>
          <p:cNvPicPr>
            <a:picLocks noChangeAspect="1"/>
          </p:cNvPicPr>
          <p:nvPr/>
        </p:nvPicPr>
        <p:blipFill>
          <a:blip r:embed="rId2"/>
          <a:stretch>
            <a:fillRect/>
          </a:stretch>
        </p:blipFill>
        <p:spPr>
          <a:xfrm>
            <a:off x="778975" y="2556388"/>
            <a:ext cx="5508428" cy="1501224"/>
          </a:xfrm>
          <a:prstGeom prst="rect">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8C1DDC6A-5EF6-4A45-DAA8-2C55838D63F4}"/>
              </a:ext>
            </a:extLst>
          </p:cNvPr>
          <p:cNvPicPr>
            <a:picLocks noChangeAspect="1"/>
          </p:cNvPicPr>
          <p:nvPr/>
        </p:nvPicPr>
        <p:blipFill>
          <a:blip r:embed="rId3"/>
          <a:stretch>
            <a:fillRect/>
          </a:stretch>
        </p:blipFill>
        <p:spPr>
          <a:xfrm>
            <a:off x="7964085" y="2196926"/>
            <a:ext cx="2565786" cy="2146474"/>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33400" y="981768"/>
            <a:ext cx="10008870" cy="323807"/>
          </a:xfrm>
          <a:prstGeom prst="rect">
            <a:avLst/>
          </a:prstGeom>
        </p:spPr>
        <p:txBody>
          <a:bodyPr vert="horz" wrap="square" lIns="0" tIns="15875" rIns="0" bIns="0" rtlCol="0">
            <a:spAutoFit/>
          </a:bodyPr>
          <a:lstStyle/>
          <a:p>
            <a:pPr marL="12700">
              <a:lnSpc>
                <a:spcPct val="100000"/>
              </a:lnSpc>
              <a:spcBef>
                <a:spcPts val="125"/>
              </a:spcBef>
            </a:pPr>
            <a:r>
              <a:rPr lang="en-US" sz="2000" b="1" dirty="0">
                <a:latin typeface="Arial" panose="020B0604020202020204" pitchFamily="34" charset="0"/>
                <a:cs typeface="Arial" panose="020B0604020202020204" pitchFamily="34" charset="0"/>
              </a:rPr>
              <a:t>   </a:t>
            </a:r>
            <a:r>
              <a:rPr sz="2000" b="1" dirty="0">
                <a:latin typeface="Arial" panose="020B0604020202020204" pitchFamily="34" charset="0"/>
                <a:cs typeface="Arial" panose="020B0604020202020204" pitchFamily="34" charset="0"/>
              </a:rPr>
              <a:t>2.</a:t>
            </a:r>
            <a:r>
              <a:rPr sz="2000" b="1" spc="15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are the top 5 countries by GDP in the most recent year?</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762000" y="1918921"/>
            <a:ext cx="716915"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7239000" y="1857690"/>
            <a:ext cx="816610" cy="335280"/>
          </a:xfrm>
          <a:prstGeom prst="rect">
            <a:avLst/>
          </a:prstGeom>
        </p:spPr>
        <p:txBody>
          <a:bodyPr vert="horz" wrap="square" lIns="0" tIns="16510" rIns="0" bIns="0" rtlCol="0">
            <a:spAutoFit/>
          </a:bodyPr>
          <a:lstStyle/>
          <a:p>
            <a:pPr marL="12700">
              <a:lnSpc>
                <a:spcPct val="100000"/>
              </a:lnSpc>
              <a:spcBef>
                <a:spcPts val="130"/>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6" name="TextBox 5">
            <a:extLst>
              <a:ext uri="{FF2B5EF4-FFF2-40B4-BE49-F238E27FC236}">
                <a16:creationId xmlns:a16="http://schemas.microsoft.com/office/drawing/2014/main" id="{E2435528-97CD-DCCD-5FE3-9C62E0C9D20B}"/>
              </a:ext>
            </a:extLst>
          </p:cNvPr>
          <p:cNvSpPr txBox="1"/>
          <p:nvPr/>
        </p:nvSpPr>
        <p:spPr>
          <a:xfrm>
            <a:off x="762000" y="4654567"/>
            <a:ext cx="8229600" cy="1477328"/>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China and the United States lead global GDP rankings</a:t>
            </a:r>
            <a:r>
              <a:rPr lang="en-US" dirty="0"/>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India is emerging as a strong top economy followed by Japan and </a:t>
            </a:r>
            <a:r>
              <a:rPr lang="en-US" dirty="0" err="1">
                <a:latin typeface="Times New Roman" panose="02020603050405020304" pitchFamily="18" charset="0"/>
                <a:cs typeface="Times New Roman" panose="02020603050405020304" pitchFamily="18" charset="0"/>
              </a:rPr>
              <a:t>germany</a:t>
            </a:r>
            <a:r>
              <a:rPr lang="en-US"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Economic power is concentrated among a few countries.</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A81F6C48-08DC-9736-7D3C-9566FDA20091}"/>
              </a:ext>
            </a:extLst>
          </p:cNvPr>
          <p:cNvPicPr>
            <a:picLocks noChangeAspect="1"/>
          </p:cNvPicPr>
          <p:nvPr/>
        </p:nvPicPr>
        <p:blipFill>
          <a:blip r:embed="rId2"/>
          <a:stretch>
            <a:fillRect/>
          </a:stretch>
        </p:blipFill>
        <p:spPr>
          <a:xfrm>
            <a:off x="838200" y="2519975"/>
            <a:ext cx="4409379" cy="990600"/>
          </a:xfrm>
          <a:prstGeom prst="rect">
            <a:avLst/>
          </a:prstGeom>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EDF96BD0-C4D8-0E77-781D-824357349B15}"/>
              </a:ext>
            </a:extLst>
          </p:cNvPr>
          <p:cNvPicPr>
            <a:picLocks noChangeAspect="1"/>
          </p:cNvPicPr>
          <p:nvPr/>
        </p:nvPicPr>
        <p:blipFill>
          <a:blip r:embed="rId3"/>
          <a:stretch>
            <a:fillRect/>
          </a:stretch>
        </p:blipFill>
        <p:spPr>
          <a:xfrm>
            <a:off x="7162800" y="2403104"/>
            <a:ext cx="2046989" cy="1489754"/>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p:nvPr/>
        </p:nvSpPr>
        <p:spPr>
          <a:xfrm>
            <a:off x="457200" y="446450"/>
            <a:ext cx="9940925" cy="324448"/>
          </a:xfrm>
          <a:prstGeom prst="rect">
            <a:avLst/>
          </a:prstGeom>
        </p:spPr>
        <p:txBody>
          <a:bodyPr vert="horz" wrap="square" lIns="0" tIns="16510" rIns="0" bIns="0" rtlCol="0">
            <a:spAutoFit/>
          </a:bodyPr>
          <a:lstStyle/>
          <a:p>
            <a:pPr marL="12700">
              <a:lnSpc>
                <a:spcPct val="100000"/>
              </a:lnSpc>
              <a:spcBef>
                <a:spcPts val="130"/>
              </a:spcBef>
            </a:pPr>
            <a:r>
              <a:rPr sz="2000" b="1" dirty="0">
                <a:solidFill>
                  <a:srgbClr val="FF0000"/>
                </a:solidFill>
                <a:latin typeface="Arial" panose="020B0604020202020204" pitchFamily="34" charset="0"/>
                <a:cs typeface="Arial" panose="020B0604020202020204" pitchFamily="34" charset="0"/>
              </a:rPr>
              <a:t>3.</a:t>
            </a:r>
            <a:r>
              <a:rPr sz="2000" b="1" spc="105" dirty="0">
                <a:solidFill>
                  <a:srgbClr val="FF0000"/>
                </a:solidFill>
                <a:latin typeface="Arial" panose="020B0604020202020204" pitchFamily="34" charset="0"/>
                <a:cs typeface="Arial" panose="020B0604020202020204" pitchFamily="34" charset="0"/>
              </a:rPr>
              <a:t> </a:t>
            </a:r>
            <a:r>
              <a:rPr lang="en-US" sz="2000" b="1" dirty="0">
                <a:solidFill>
                  <a:srgbClr val="FF0000"/>
                </a:solidFill>
                <a:latin typeface="Arial" panose="020B0604020202020204" pitchFamily="34" charset="0"/>
                <a:cs typeface="Arial" panose="020B0604020202020204" pitchFamily="34" charset="0"/>
              </a:rPr>
              <a:t>Compare energy production and consumption by country and year?</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649605" y="1121017"/>
            <a:ext cx="1026795" cy="631583"/>
          </a:xfrm>
          <a:prstGeom prst="rect">
            <a:avLst/>
          </a:prstGeom>
        </p:spPr>
        <p:txBody>
          <a:bodyPr vert="horz" wrap="square" lIns="0" tIns="15875" rIns="0" bIns="0" rtlCol="0">
            <a:spAutoFit/>
          </a:bodyPr>
          <a:lstStyle/>
          <a:p>
            <a:pPr marL="12700">
              <a:lnSpc>
                <a:spcPct val="100000"/>
              </a:lnSpc>
              <a:spcBef>
                <a:spcPts val="125"/>
              </a:spcBef>
              <a:tabLst>
                <a:tab pos="5876925" algn="l"/>
              </a:tabLst>
            </a:pPr>
            <a:r>
              <a:rPr lang="en-IN" sz="2000" b="1" u="sng" spc="-10" dirty="0">
                <a:uFill>
                  <a:solidFill>
                    <a:srgbClr val="000000"/>
                  </a:solidFill>
                </a:uFill>
                <a:latin typeface="Times New Roman"/>
                <a:cs typeface="Times New Roman"/>
              </a:rPr>
              <a:t>Query</a:t>
            </a:r>
            <a:r>
              <a:rPr lang="en-IN" sz="2000" b="1" u="none" dirty="0">
                <a:latin typeface="Times New Roman"/>
                <a:cs typeface="Times New Roman"/>
              </a:rPr>
              <a:t>	    </a:t>
            </a:r>
            <a:endParaRPr sz="2000" dirty="0">
              <a:latin typeface="Times New Roman"/>
              <a:cs typeface="Times New Roman"/>
            </a:endParaRPr>
          </a:p>
        </p:txBody>
      </p:sp>
      <p:pic>
        <p:nvPicPr>
          <p:cNvPr id="5" name="Picture 4">
            <a:extLst>
              <a:ext uri="{FF2B5EF4-FFF2-40B4-BE49-F238E27FC236}">
                <a16:creationId xmlns:a16="http://schemas.microsoft.com/office/drawing/2014/main" id="{EBC6AFC4-933B-8692-4901-E95D02B7A02B}"/>
              </a:ext>
            </a:extLst>
          </p:cNvPr>
          <p:cNvPicPr>
            <a:picLocks noChangeAspect="1"/>
          </p:cNvPicPr>
          <p:nvPr/>
        </p:nvPicPr>
        <p:blipFill>
          <a:blip r:embed="rId2"/>
          <a:stretch>
            <a:fillRect/>
          </a:stretch>
        </p:blipFill>
        <p:spPr>
          <a:xfrm>
            <a:off x="677036" y="1752600"/>
            <a:ext cx="5005644" cy="2895600"/>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6F12F100-1371-4B8F-D479-2DC8FA2BB34D}"/>
              </a:ext>
            </a:extLst>
          </p:cNvPr>
          <p:cNvPicPr>
            <a:picLocks noChangeAspect="1"/>
          </p:cNvPicPr>
          <p:nvPr/>
        </p:nvPicPr>
        <p:blipFill>
          <a:blip r:embed="rId3"/>
          <a:stretch>
            <a:fillRect/>
          </a:stretch>
        </p:blipFill>
        <p:spPr>
          <a:xfrm>
            <a:off x="5850479" y="2514600"/>
            <a:ext cx="5885828" cy="1447800"/>
          </a:xfrm>
          <a:prstGeom prst="rect">
            <a:avLst/>
          </a:prstGeom>
          <a:effectLst>
            <a:outerShdw blurRad="50800" dist="38100" dir="5400000" algn="t" rotWithShape="0">
              <a:prstClr val="black">
                <a:alpha val="40000"/>
              </a:prstClr>
            </a:outerShdw>
          </a:effectLst>
        </p:spPr>
      </p:pic>
      <p:sp>
        <p:nvSpPr>
          <p:cNvPr id="13" name="object 3">
            <a:extLst>
              <a:ext uri="{FF2B5EF4-FFF2-40B4-BE49-F238E27FC236}">
                <a16:creationId xmlns:a16="http://schemas.microsoft.com/office/drawing/2014/main" id="{6AFFB939-1CE7-5B4C-079D-404694CC8CF5}"/>
              </a:ext>
            </a:extLst>
          </p:cNvPr>
          <p:cNvSpPr txBox="1"/>
          <p:nvPr/>
        </p:nvSpPr>
        <p:spPr>
          <a:xfrm>
            <a:off x="5862671" y="1121017"/>
            <a:ext cx="1026795" cy="631583"/>
          </a:xfrm>
          <a:prstGeom prst="rect">
            <a:avLst/>
          </a:prstGeom>
        </p:spPr>
        <p:txBody>
          <a:bodyPr vert="horz" wrap="square" lIns="0" tIns="15875" rIns="0" bIns="0" rtlCol="0">
            <a:spAutoFit/>
          </a:bodyPr>
          <a:lstStyle/>
          <a:p>
            <a:pPr marL="12700">
              <a:lnSpc>
                <a:spcPct val="100000"/>
              </a:lnSpc>
              <a:spcBef>
                <a:spcPts val="125"/>
              </a:spcBef>
              <a:tabLst>
                <a:tab pos="5876925" algn="l"/>
              </a:tabLst>
            </a:pPr>
            <a:r>
              <a:rPr lang="en-IN" sz="2000" b="1" u="sng" spc="-10" dirty="0">
                <a:uFill>
                  <a:solidFill>
                    <a:srgbClr val="000000"/>
                  </a:solidFill>
                </a:uFill>
                <a:latin typeface="Times New Roman"/>
                <a:cs typeface="Times New Roman"/>
              </a:rPr>
              <a:t>Output</a:t>
            </a:r>
            <a:r>
              <a:rPr lang="en-IN" sz="2000" b="1" u="none" dirty="0">
                <a:latin typeface="Times New Roman"/>
                <a:cs typeface="Times New Roman"/>
              </a:rPr>
              <a:t>	    </a:t>
            </a:r>
            <a:endParaRPr sz="2000" dirty="0">
              <a:latin typeface="Times New Roman"/>
              <a:cs typeface="Times New Roman"/>
            </a:endParaRPr>
          </a:p>
        </p:txBody>
      </p:sp>
      <p:sp>
        <p:nvSpPr>
          <p:cNvPr id="14" name="object 3">
            <a:extLst>
              <a:ext uri="{FF2B5EF4-FFF2-40B4-BE49-F238E27FC236}">
                <a16:creationId xmlns:a16="http://schemas.microsoft.com/office/drawing/2014/main" id="{CFFFA8E5-D526-3278-18ED-E70DAD327A4A}"/>
              </a:ext>
            </a:extLst>
          </p:cNvPr>
          <p:cNvSpPr txBox="1"/>
          <p:nvPr/>
        </p:nvSpPr>
        <p:spPr>
          <a:xfrm>
            <a:off x="8153400" y="406030"/>
            <a:ext cx="1026795" cy="323807"/>
          </a:xfrm>
          <a:prstGeom prst="rect">
            <a:avLst/>
          </a:prstGeom>
        </p:spPr>
        <p:txBody>
          <a:bodyPr vert="horz" wrap="square" lIns="0" tIns="15875" rIns="0" bIns="0" rtlCol="0">
            <a:spAutoFit/>
          </a:bodyPr>
          <a:lstStyle/>
          <a:p>
            <a:pPr marL="12700">
              <a:lnSpc>
                <a:spcPct val="100000"/>
              </a:lnSpc>
              <a:spcBef>
                <a:spcPts val="125"/>
              </a:spcBef>
              <a:tabLst>
                <a:tab pos="5876925" algn="l"/>
              </a:tabLst>
            </a:pPr>
            <a:r>
              <a:rPr lang="en-IN" sz="2000" b="1" u="none" dirty="0">
                <a:latin typeface="Times New Roman"/>
                <a:cs typeface="Times New Roman"/>
              </a:rPr>
              <a:t>   </a:t>
            </a:r>
            <a:endParaRPr sz="2000" dirty="0">
              <a:latin typeface="Times New Roman"/>
              <a:cs typeface="Times New Roman"/>
            </a:endParaRPr>
          </a:p>
        </p:txBody>
      </p:sp>
      <p:sp>
        <p:nvSpPr>
          <p:cNvPr id="15" name="TextBox 14">
            <a:extLst>
              <a:ext uri="{FF2B5EF4-FFF2-40B4-BE49-F238E27FC236}">
                <a16:creationId xmlns:a16="http://schemas.microsoft.com/office/drawing/2014/main" id="{27A56A54-993D-83DB-184E-C5A284A58475}"/>
              </a:ext>
            </a:extLst>
          </p:cNvPr>
          <p:cNvSpPr txBox="1"/>
          <p:nvPr/>
        </p:nvSpPr>
        <p:spPr>
          <a:xfrm>
            <a:off x="619124" y="4998319"/>
            <a:ext cx="8829675" cy="1477328"/>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Many countries show </a:t>
            </a:r>
            <a:r>
              <a:rPr lang="en-US" b="1" dirty="0">
                <a:latin typeface="Times New Roman" panose="02020603050405020304" pitchFamily="18" charset="0"/>
                <a:cs typeface="Times New Roman" panose="02020603050405020304" pitchFamily="18" charset="0"/>
              </a:rPr>
              <a:t>higher consumption than production</a:t>
            </a:r>
            <a:r>
              <a:rPr lang="en-US" dirty="0">
                <a:latin typeface="Times New Roman" panose="02020603050405020304" pitchFamily="18" charset="0"/>
                <a:cs typeface="Times New Roman" panose="02020603050405020304" pitchFamily="18" charset="0"/>
              </a:rPr>
              <a:t>, resulting in energy deficit.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countries have </a:t>
            </a:r>
            <a:r>
              <a:rPr lang="en-US" b="1" dirty="0">
                <a:latin typeface="Times New Roman" panose="02020603050405020304" pitchFamily="18" charset="0"/>
                <a:cs typeface="Times New Roman" panose="02020603050405020304" pitchFamily="18" charset="0"/>
              </a:rPr>
              <a:t>balanced or surplus energy</a:t>
            </a:r>
            <a:r>
              <a:rPr lang="en-US" dirty="0">
                <a:latin typeface="Times New Roman" panose="02020603050405020304" pitchFamily="18" charset="0"/>
                <a:cs typeface="Times New Roman" panose="02020603050405020304" pitchFamily="18" charset="0"/>
              </a:rPr>
              <a:t>, producing more than they consume.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Indicates </a:t>
            </a:r>
            <a:r>
              <a:rPr lang="en-US" b="1" dirty="0">
                <a:latin typeface="Times New Roman" panose="02020603050405020304" pitchFamily="18" charset="0"/>
                <a:cs typeface="Times New Roman" panose="02020603050405020304" pitchFamily="18" charset="0"/>
              </a:rPr>
              <a:t>dependency on energy imports</a:t>
            </a:r>
            <a:r>
              <a:rPr lang="en-US" dirty="0">
                <a:latin typeface="Times New Roman" panose="02020603050405020304" pitchFamily="18" charset="0"/>
                <a:cs typeface="Times New Roman" panose="02020603050405020304" pitchFamily="18" charset="0"/>
              </a:rPr>
              <a:t> for deficit countries.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52400" y="536951"/>
            <a:ext cx="11059160" cy="654016"/>
          </a:xfrm>
          <a:prstGeom prst="rect">
            <a:avLst/>
          </a:prstGeom>
        </p:spPr>
        <p:txBody>
          <a:bodyPr vert="horz" wrap="square" lIns="0" tIns="342891" rIns="0" bIns="0" rtlCol="0">
            <a:spAutoFit/>
          </a:bodyPr>
          <a:lstStyle/>
          <a:p>
            <a:pPr marL="652145">
              <a:lnSpc>
                <a:spcPct val="100000"/>
              </a:lnSpc>
              <a:spcBef>
                <a:spcPts val="795"/>
              </a:spcBef>
            </a:pPr>
            <a:r>
              <a:rPr sz="2000" b="1" dirty="0">
                <a:latin typeface="Arial" panose="020B0604020202020204" pitchFamily="34" charset="0"/>
                <a:cs typeface="Arial" panose="020B0604020202020204" pitchFamily="34" charset="0"/>
              </a:rPr>
              <a:t>4.</a:t>
            </a:r>
            <a:r>
              <a:rPr sz="2000" b="1" spc="-60" dirty="0">
                <a:latin typeface="Arial" panose="020B0604020202020204" pitchFamily="34" charset="0"/>
                <a:cs typeface="Arial" panose="020B0604020202020204" pitchFamily="34" charset="0"/>
              </a:rPr>
              <a:t> </a:t>
            </a:r>
            <a:r>
              <a:rPr lang="en-US" sz="2000" b="1" spc="-20" dirty="0">
                <a:latin typeface="Arial" panose="020B0604020202020204" pitchFamily="34" charset="0"/>
                <a:cs typeface="Arial" panose="020B0604020202020204" pitchFamily="34" charset="0"/>
              </a:rPr>
              <a:t>Which energy types contribute most to emissions across all countries?</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7239000" y="1449702"/>
            <a:ext cx="81788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8796FBB0-2600-970C-5C8B-27F60CD682BB}"/>
              </a:ext>
            </a:extLst>
          </p:cNvPr>
          <p:cNvSpPr txBox="1"/>
          <p:nvPr/>
        </p:nvSpPr>
        <p:spPr>
          <a:xfrm>
            <a:off x="857089" y="4392381"/>
            <a:ext cx="6604228" cy="1754326"/>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p>
          <a:p>
            <a:pPr marL="285750" indent="-285750">
              <a:buFont typeface="Arial" panose="020B0604020202020204" pitchFamily="34" charset="0"/>
              <a:buChar char="•"/>
            </a:pPr>
            <a:endParaRPr lang="en-IN"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Coal and coke</a:t>
            </a:r>
            <a:r>
              <a:rPr lang="en-US" dirty="0">
                <a:latin typeface="Times New Roman" panose="02020603050405020304" pitchFamily="18" charset="0"/>
                <a:cs typeface="Times New Roman" panose="02020603050405020304" pitchFamily="18" charset="0"/>
              </a:rPr>
              <a:t> contribute the highest emissions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Petroleum and other liquids</a:t>
            </a:r>
            <a:r>
              <a:rPr lang="en-US" dirty="0">
                <a:latin typeface="Times New Roman" panose="02020603050405020304" pitchFamily="18" charset="0"/>
                <a:cs typeface="Times New Roman" panose="02020603050405020304" pitchFamily="18" charset="0"/>
              </a:rPr>
              <a:t> are also major contributors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Natural gas</a:t>
            </a:r>
            <a:r>
              <a:rPr lang="en-US" dirty="0">
                <a:latin typeface="Times New Roman" panose="02020603050405020304" pitchFamily="18" charset="0"/>
                <a:cs typeface="Times New Roman" panose="02020603050405020304" pitchFamily="18" charset="0"/>
              </a:rPr>
              <a:t> contributes significantly but less than coal</a:t>
            </a:r>
          </a:p>
          <a:p>
            <a:pPr marL="285750" indent="-285750">
              <a:buFont typeface="Arial" panose="020B0604020202020204" pitchFamily="34" charset="0"/>
              <a:buChar char="•"/>
            </a:pPr>
            <a:r>
              <a:rPr lang="en-US" dirty="0">
                <a:latin typeface="Times New Roman" panose="02020603050405020304" pitchFamily="18" charset="0"/>
                <a:ea typeface="Tahoma" panose="020B0604030504040204" pitchFamily="34"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hows that </a:t>
            </a:r>
            <a:r>
              <a:rPr lang="en-US" b="1" dirty="0">
                <a:latin typeface="Times New Roman" panose="02020603050405020304" pitchFamily="18" charset="0"/>
                <a:cs typeface="Times New Roman" panose="02020603050405020304" pitchFamily="18" charset="0"/>
              </a:rPr>
              <a:t>fossil fuels dominate global emissions</a:t>
            </a:r>
            <a:endParaRPr lang="en-IN"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D6DE119F-A30E-70C7-9B85-62FA33E55845}"/>
              </a:ext>
            </a:extLst>
          </p:cNvPr>
          <p:cNvSpPr txBox="1"/>
          <p:nvPr/>
        </p:nvSpPr>
        <p:spPr>
          <a:xfrm>
            <a:off x="882536" y="1449702"/>
            <a:ext cx="1524000" cy="369332"/>
          </a:xfrm>
          <a:prstGeom prst="rect">
            <a:avLst/>
          </a:prstGeom>
          <a:noFill/>
        </p:spPr>
        <p:txBody>
          <a:bodyPr wrap="square" rtlCol="0">
            <a:spAutoFit/>
          </a:bodyPr>
          <a:lstStyle/>
          <a:p>
            <a:r>
              <a:rPr lang="en-IN" sz="18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endParaRPr lang="en-IN" dirty="0"/>
          </a:p>
        </p:txBody>
      </p:sp>
      <p:pic>
        <p:nvPicPr>
          <p:cNvPr id="9" name="Picture 8">
            <a:extLst>
              <a:ext uri="{FF2B5EF4-FFF2-40B4-BE49-F238E27FC236}">
                <a16:creationId xmlns:a16="http://schemas.microsoft.com/office/drawing/2014/main" id="{75515AA9-0160-BB0A-859D-F707E43B732B}"/>
              </a:ext>
            </a:extLst>
          </p:cNvPr>
          <p:cNvPicPr>
            <a:picLocks noChangeAspect="1"/>
          </p:cNvPicPr>
          <p:nvPr/>
        </p:nvPicPr>
        <p:blipFill>
          <a:blip r:embed="rId2"/>
          <a:stretch>
            <a:fillRect/>
          </a:stretch>
        </p:blipFill>
        <p:spPr>
          <a:xfrm>
            <a:off x="685800" y="2320653"/>
            <a:ext cx="5661894" cy="566189"/>
          </a:xfrm>
          <a:prstGeom prst="rect">
            <a:avLst/>
          </a:prstGeom>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6E574AF2-E886-3307-2983-958C9C9583B4}"/>
              </a:ext>
            </a:extLst>
          </p:cNvPr>
          <p:cNvPicPr>
            <a:picLocks noChangeAspect="1"/>
          </p:cNvPicPr>
          <p:nvPr/>
        </p:nvPicPr>
        <p:blipFill>
          <a:blip r:embed="rId3"/>
          <a:stretch>
            <a:fillRect/>
          </a:stretch>
        </p:blipFill>
        <p:spPr>
          <a:xfrm>
            <a:off x="6629400" y="2299657"/>
            <a:ext cx="5105400" cy="984034"/>
          </a:xfrm>
          <a:prstGeom prst="rect">
            <a:avLst/>
          </a:prstGeom>
          <a:effectLst>
            <a:outerShdw blurRad="50800" dist="38100" dir="5400000" algn="t" rotWithShape="0">
              <a:prstClr val="black">
                <a:alpha val="40000"/>
              </a:prst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62000" y="299694"/>
            <a:ext cx="10668000" cy="939360"/>
          </a:xfrm>
          <a:prstGeom prst="rect">
            <a:avLst/>
          </a:prstGeom>
        </p:spPr>
        <p:txBody>
          <a:bodyPr vert="horz" wrap="square" lIns="0" tIns="15875" rIns="0" bIns="0" rtlCol="0">
            <a:spAutoFit/>
          </a:bodyPr>
          <a:lstStyle/>
          <a:p>
            <a:pPr marL="12700">
              <a:lnSpc>
                <a:spcPct val="100000"/>
              </a:lnSpc>
              <a:spcBef>
                <a:spcPts val="125"/>
              </a:spcBef>
            </a:pPr>
            <a:r>
              <a:rPr lang="en-US" sz="2000" b="1" dirty="0">
                <a:solidFill>
                  <a:schemeClr val="accent4">
                    <a:lumMod val="50000"/>
                  </a:schemeClr>
                </a:solidFill>
                <a:latin typeface="Times New Roman" panose="02020603050405020304" pitchFamily="18" charset="0"/>
                <a:cs typeface="Times New Roman" panose="02020603050405020304" pitchFamily="18" charset="0"/>
              </a:rPr>
              <a:t>Trend Analysis Over Time</a:t>
            </a:r>
            <a:br>
              <a:rPr lang="en-US" sz="2000" dirty="0">
                <a:latin typeface="Times New Roman" panose="02020603050405020304" pitchFamily="18" charset="0"/>
                <a:cs typeface="Times New Roman" panose="02020603050405020304" pitchFamily="18" charset="0"/>
              </a:rPr>
            </a:br>
            <a:br>
              <a:rPr lang="en-US" sz="2000"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1.</a:t>
            </a:r>
            <a:r>
              <a:rPr lang="en-US" sz="2000" b="1" spc="114"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How have global emissions changed year over year?</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993775" y="1657393"/>
            <a:ext cx="817880" cy="323807"/>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6248400" y="1660108"/>
            <a:ext cx="81788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5" name="TextBox 4">
            <a:extLst>
              <a:ext uri="{FF2B5EF4-FFF2-40B4-BE49-F238E27FC236}">
                <a16:creationId xmlns:a16="http://schemas.microsoft.com/office/drawing/2014/main" id="{F26752E5-76B4-B91E-3B87-AF8DBF8E4CBB}"/>
              </a:ext>
            </a:extLst>
          </p:cNvPr>
          <p:cNvSpPr txBox="1"/>
          <p:nvPr/>
        </p:nvSpPr>
        <p:spPr>
          <a:xfrm>
            <a:off x="795528" y="4320729"/>
            <a:ext cx="6985228" cy="1754326"/>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Global emissions show a </a:t>
            </a:r>
            <a:r>
              <a:rPr lang="en-US" b="1" dirty="0">
                <a:latin typeface="Times New Roman" panose="02020603050405020304" pitchFamily="18" charset="0"/>
                <a:cs typeface="Times New Roman" panose="02020603050405020304" pitchFamily="18" charset="0"/>
              </a:rPr>
              <a:t>consistent increasing trend</a:t>
            </a:r>
            <a:r>
              <a:rPr lang="en-US" dirty="0">
                <a:latin typeface="Times New Roman" panose="02020603050405020304" pitchFamily="18" charset="0"/>
                <a:cs typeface="Times New Roman" panose="02020603050405020304" pitchFamily="18" charset="0"/>
              </a:rPr>
              <a:t> over the years</a:t>
            </a:r>
            <a:r>
              <a:rPr lang="en-US" dirty="0">
                <a:latin typeface="Times New Roman" panose="02020603050405020304" pitchFamily="18" charset="0"/>
                <a:ea typeface="Tahoma" panose="020B0604030504040204" pitchFamily="34" charset="0"/>
                <a:cs typeface="Times New Roman" panose="02020603050405020304" pitchFamily="18" charset="0"/>
              </a:rPr>
              <a: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There is a </a:t>
            </a:r>
            <a:r>
              <a:rPr lang="en-US" b="1" dirty="0">
                <a:latin typeface="Times New Roman" panose="02020603050405020304" pitchFamily="18" charset="0"/>
                <a:cs typeface="Times New Roman" panose="02020603050405020304" pitchFamily="18" charset="0"/>
              </a:rPr>
              <a:t>positive year-over-year growth</a:t>
            </a:r>
            <a:r>
              <a:rPr lang="en-US" dirty="0">
                <a:latin typeface="Times New Roman" panose="02020603050405020304" pitchFamily="18" charset="0"/>
                <a:cs typeface="Times New Roman" panose="02020603050405020304" pitchFamily="18" charset="0"/>
              </a:rPr>
              <a:t>, indicating rising emissions</a:t>
            </a:r>
            <a:r>
              <a:rPr lang="en-IN" dirty="0">
                <a:latin typeface="Times New Roman" panose="02020603050405020304" pitchFamily="18" charset="0"/>
                <a:ea typeface="Tahoma" panose="020B0604030504040204" pitchFamily="34" charset="0"/>
                <a:cs typeface="Times New Roman" panose="02020603050405020304" pitchFamily="18" charset="0"/>
              </a:rPr>
              <a:t>.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Suggests increasing energy usage and environmental impact globally</a:t>
            </a:r>
            <a:r>
              <a:rPr lang="en-IN" dirty="0">
                <a:latin typeface="Times New Roman" panose="02020603050405020304" pitchFamily="18" charset="0"/>
                <a:ea typeface="Tahoma" panose="020B0604030504040204" pitchFamily="34" charset="0"/>
                <a:cs typeface="Times New Roman" panose="02020603050405020304" pitchFamily="18" charset="0"/>
              </a:rPr>
              <a:t>                   </a:t>
            </a:r>
          </a:p>
        </p:txBody>
      </p:sp>
      <p:pic>
        <p:nvPicPr>
          <p:cNvPr id="8" name="Picture 7">
            <a:extLst>
              <a:ext uri="{FF2B5EF4-FFF2-40B4-BE49-F238E27FC236}">
                <a16:creationId xmlns:a16="http://schemas.microsoft.com/office/drawing/2014/main" id="{A55CBA27-B73C-58E1-3E3F-B583F40DA265}"/>
              </a:ext>
            </a:extLst>
          </p:cNvPr>
          <p:cNvPicPr>
            <a:picLocks noChangeAspect="1"/>
          </p:cNvPicPr>
          <p:nvPr/>
        </p:nvPicPr>
        <p:blipFill>
          <a:blip r:embed="rId2"/>
          <a:stretch>
            <a:fillRect/>
          </a:stretch>
        </p:blipFill>
        <p:spPr>
          <a:xfrm>
            <a:off x="993775" y="2152795"/>
            <a:ext cx="4473328" cy="1447925"/>
          </a:xfrm>
          <a:prstGeom prst="rect">
            <a:avLst/>
          </a:prstGeom>
          <a:effectLst>
            <a:outerShdw blurRad="50800" dist="38100" dir="8100000" algn="tr" rotWithShape="0">
              <a:prstClr val="black">
                <a:alpha val="40000"/>
              </a:prstClr>
            </a:outerShdw>
          </a:effectLst>
        </p:spPr>
      </p:pic>
      <p:pic>
        <p:nvPicPr>
          <p:cNvPr id="12" name="Picture 11">
            <a:extLst>
              <a:ext uri="{FF2B5EF4-FFF2-40B4-BE49-F238E27FC236}">
                <a16:creationId xmlns:a16="http://schemas.microsoft.com/office/drawing/2014/main" id="{B99C482B-10AD-6EE5-FE84-66920D7F0038}"/>
              </a:ext>
            </a:extLst>
          </p:cNvPr>
          <p:cNvPicPr>
            <a:picLocks noChangeAspect="1"/>
          </p:cNvPicPr>
          <p:nvPr/>
        </p:nvPicPr>
        <p:blipFill>
          <a:blip r:embed="rId3"/>
          <a:stretch>
            <a:fillRect/>
          </a:stretch>
        </p:blipFill>
        <p:spPr>
          <a:xfrm>
            <a:off x="6239256" y="2431014"/>
            <a:ext cx="3782412" cy="116970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5155" y="561185"/>
            <a:ext cx="8467090" cy="323807"/>
          </a:xfrm>
          <a:prstGeom prst="rect">
            <a:avLst/>
          </a:prstGeom>
        </p:spPr>
        <p:txBody>
          <a:bodyPr vert="horz" wrap="square" lIns="0" tIns="15875" rIns="0" bIns="0" rtlCol="0">
            <a:spAutoFit/>
          </a:bodyPr>
          <a:lstStyle/>
          <a:p>
            <a:pPr marL="12700">
              <a:lnSpc>
                <a:spcPct val="100000"/>
              </a:lnSpc>
              <a:spcBef>
                <a:spcPts val="125"/>
              </a:spcBef>
            </a:pPr>
            <a:r>
              <a:rPr lang="en-IN" sz="2000" b="1" dirty="0">
                <a:latin typeface="Arial" panose="020B0604020202020204" pitchFamily="34" charset="0"/>
                <a:cs typeface="Arial" panose="020B0604020202020204" pitchFamily="34" charset="0"/>
              </a:rPr>
              <a:t>2</a:t>
            </a:r>
            <a:r>
              <a:rPr sz="2000" b="1" dirty="0">
                <a:latin typeface="Arial" panose="020B0604020202020204" pitchFamily="34" charset="0"/>
                <a:cs typeface="Arial" panose="020B0604020202020204" pitchFamily="34" charset="0"/>
              </a:rPr>
              <a:t>.</a:t>
            </a:r>
            <a:r>
              <a:rPr sz="2000" b="1" spc="13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trend in GDP for each country over the given years?</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938784" y="1326725"/>
            <a:ext cx="71755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6781800" y="1202946"/>
            <a:ext cx="81788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pic>
        <p:nvPicPr>
          <p:cNvPr id="6" name="Picture 5">
            <a:extLst>
              <a:ext uri="{FF2B5EF4-FFF2-40B4-BE49-F238E27FC236}">
                <a16:creationId xmlns:a16="http://schemas.microsoft.com/office/drawing/2014/main" id="{2F951A06-C3CC-D959-2EAC-759A0AE28724}"/>
              </a:ext>
            </a:extLst>
          </p:cNvPr>
          <p:cNvPicPr>
            <a:picLocks noChangeAspect="1"/>
          </p:cNvPicPr>
          <p:nvPr/>
        </p:nvPicPr>
        <p:blipFill>
          <a:blip r:embed="rId2"/>
          <a:stretch>
            <a:fillRect/>
          </a:stretch>
        </p:blipFill>
        <p:spPr>
          <a:xfrm>
            <a:off x="950976" y="2008507"/>
            <a:ext cx="5273497" cy="1447925"/>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EF72F4B2-FC92-B440-4843-0346BE94F34D}"/>
              </a:ext>
            </a:extLst>
          </p:cNvPr>
          <p:cNvPicPr>
            <a:picLocks noChangeAspect="1"/>
          </p:cNvPicPr>
          <p:nvPr/>
        </p:nvPicPr>
        <p:blipFill>
          <a:blip r:embed="rId3"/>
          <a:stretch>
            <a:fillRect/>
          </a:stretch>
        </p:blipFill>
        <p:spPr>
          <a:xfrm>
            <a:off x="6871769" y="1981075"/>
            <a:ext cx="4367320" cy="1447925"/>
          </a:xfrm>
          <a:prstGeom prst="rect">
            <a:avLst/>
          </a:prstGeom>
          <a:effectLst>
            <a:outerShdw blurRad="50800" dist="38100" dir="5400000" algn="t" rotWithShape="0">
              <a:prstClr val="black">
                <a:alpha val="40000"/>
              </a:prstClr>
            </a:outerShdw>
          </a:effectLst>
        </p:spPr>
      </p:pic>
      <p:sp>
        <p:nvSpPr>
          <p:cNvPr id="13" name="TextBox 12">
            <a:extLst>
              <a:ext uri="{FF2B5EF4-FFF2-40B4-BE49-F238E27FC236}">
                <a16:creationId xmlns:a16="http://schemas.microsoft.com/office/drawing/2014/main" id="{8DE5EC8C-E044-7917-D43D-5C9FF264BE54}"/>
              </a:ext>
            </a:extLst>
          </p:cNvPr>
          <p:cNvSpPr txBox="1"/>
          <p:nvPr/>
        </p:nvSpPr>
        <p:spPr>
          <a:xfrm>
            <a:off x="838200" y="3962400"/>
            <a:ext cx="8001000" cy="2585323"/>
          </a:xfrm>
          <a:prstGeom prst="rect">
            <a:avLst/>
          </a:prstGeom>
          <a:noFill/>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endParaRPr lang="en-IN" b="1" dirty="0">
              <a:solidFill>
                <a:srgbClr val="00B050"/>
              </a:solidFill>
              <a:latin typeface="Times New Roman" panose="02020603050405020304" pitchFamily="18" charset="0"/>
              <a:cs typeface="Times New Roman" panose="02020603050405020304" pitchFamily="18" charset="0"/>
            </a:endParaRPr>
          </a:p>
          <a:p>
            <a:endParaRPr lang="en-IN" b="1" dirty="0">
              <a:solidFill>
                <a:srgbClr val="00B05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countries show a </a:t>
            </a:r>
            <a:r>
              <a:rPr lang="en-US" b="1" dirty="0">
                <a:latin typeface="Times New Roman" panose="02020603050405020304" pitchFamily="18" charset="0"/>
                <a:cs typeface="Times New Roman" panose="02020603050405020304" pitchFamily="18" charset="0"/>
              </a:rPr>
              <a:t>steady increase in GDP from 2020–2024</a:t>
            </a:r>
            <a:r>
              <a:rPr lang="en-US" dirty="0">
                <a:latin typeface="Times New Roman" panose="02020603050405020304" pitchFamily="18" charset="0"/>
                <a:cs typeface="Times New Roman" panose="02020603050405020304" pitchFamily="18" charset="0"/>
              </a:rPr>
              <a:t>, indicating economic recovery and growth after 2020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countries (e.g., Afghanistan, Lebanon) show a </a:t>
            </a:r>
            <a:r>
              <a:rPr lang="en-US" b="1" dirty="0">
                <a:latin typeface="Times New Roman" panose="02020603050405020304" pitchFamily="18" charset="0"/>
                <a:cs typeface="Times New Roman" panose="02020603050405020304" pitchFamily="18" charset="0"/>
              </a:rPr>
              <a:t>declining or fluctuating trend</a:t>
            </a:r>
            <a:r>
              <a:rPr lang="en-US" dirty="0">
                <a:latin typeface="Times New Roman" panose="02020603050405020304" pitchFamily="18" charset="0"/>
                <a:cs typeface="Times New Roman" panose="02020603050405020304" pitchFamily="18" charset="0"/>
              </a:rPr>
              <a:t> due to instability.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few countries experience </a:t>
            </a:r>
            <a:r>
              <a:rPr lang="en-US" b="1" dirty="0">
                <a:latin typeface="Times New Roman" panose="02020603050405020304" pitchFamily="18" charset="0"/>
                <a:cs typeface="Times New Roman" panose="02020603050405020304" pitchFamily="18" charset="0"/>
              </a:rPr>
              <a:t>temporary drops followed by recovery</a:t>
            </a:r>
            <a:r>
              <a:rPr lang="en-US" dirty="0">
                <a:latin typeface="Times New Roman" panose="02020603050405020304" pitchFamily="18" charset="0"/>
                <a:cs typeface="Times New Roman" panose="02020603050405020304" pitchFamily="18" charset="0"/>
              </a:rPr>
              <a:t>, showing economic shocks and rebounds.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Overall, the global trend is </a:t>
            </a:r>
            <a:r>
              <a:rPr lang="en-US" b="1" dirty="0">
                <a:latin typeface="Times New Roman" panose="02020603050405020304" pitchFamily="18" charset="0"/>
                <a:cs typeface="Times New Roman" panose="02020603050405020304" pitchFamily="18" charset="0"/>
              </a:rPr>
              <a:t>positive growth with minor fluctuations across year</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5747" y="302894"/>
            <a:ext cx="10789285" cy="324448"/>
          </a:xfrm>
          <a:prstGeom prst="rect">
            <a:avLst/>
          </a:prstGeom>
        </p:spPr>
        <p:txBody>
          <a:bodyPr vert="horz" wrap="square" lIns="0" tIns="16510" rIns="0" bIns="0" rtlCol="0">
            <a:spAutoFit/>
          </a:bodyPr>
          <a:lstStyle/>
          <a:p>
            <a:pPr marL="12700">
              <a:lnSpc>
                <a:spcPct val="100000"/>
              </a:lnSpc>
              <a:spcBef>
                <a:spcPts val="130"/>
              </a:spcBef>
            </a:pPr>
            <a:r>
              <a:rPr lang="en-IN" sz="2000" b="1" dirty="0">
                <a:latin typeface="Arial" panose="020B0604020202020204" pitchFamily="34" charset="0"/>
                <a:cs typeface="Arial" panose="020B0604020202020204" pitchFamily="34" charset="0"/>
              </a:rPr>
              <a:t>3</a:t>
            </a:r>
            <a:r>
              <a:rPr sz="2000" b="1" dirty="0">
                <a:latin typeface="Arial" panose="020B0604020202020204" pitchFamily="34" charset="0"/>
                <a:cs typeface="Arial" panose="020B0604020202020204" pitchFamily="34" charset="0"/>
              </a:rPr>
              <a:t>.</a:t>
            </a:r>
            <a:r>
              <a:rPr sz="2000" b="1" spc="13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How has population growth affected total emissions in each country?</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531494" y="969073"/>
            <a:ext cx="716915"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a:latin typeface="Times New Roman"/>
              <a:cs typeface="Times New Roman"/>
            </a:endParaRPr>
          </a:p>
        </p:txBody>
      </p:sp>
      <p:sp>
        <p:nvSpPr>
          <p:cNvPr id="4" name="object 4"/>
          <p:cNvSpPr txBox="1"/>
          <p:nvPr/>
        </p:nvSpPr>
        <p:spPr>
          <a:xfrm>
            <a:off x="6705600" y="948904"/>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5" name="TextBox 4">
            <a:extLst>
              <a:ext uri="{FF2B5EF4-FFF2-40B4-BE49-F238E27FC236}">
                <a16:creationId xmlns:a16="http://schemas.microsoft.com/office/drawing/2014/main" id="{FB1DAA05-222A-480B-D5A2-DD74343F4771}"/>
              </a:ext>
            </a:extLst>
          </p:cNvPr>
          <p:cNvSpPr txBox="1"/>
          <p:nvPr/>
        </p:nvSpPr>
        <p:spPr>
          <a:xfrm>
            <a:off x="609600" y="4648200"/>
            <a:ext cx="7086600" cy="1754326"/>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many countries, </a:t>
            </a:r>
            <a:r>
              <a:rPr lang="en-US" b="1" dirty="0">
                <a:latin typeface="Times New Roman" panose="02020603050405020304" pitchFamily="18" charset="0"/>
                <a:cs typeface="Times New Roman" panose="02020603050405020304" pitchFamily="18" charset="0"/>
              </a:rPr>
              <a:t>increase in population leads to higher emissions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countries show </a:t>
            </a:r>
            <a:r>
              <a:rPr lang="en-US" b="1" dirty="0">
                <a:latin typeface="Times New Roman" panose="02020603050405020304" pitchFamily="18" charset="0"/>
                <a:cs typeface="Times New Roman" panose="02020603050405020304" pitchFamily="18" charset="0"/>
              </a:rPr>
              <a:t>emission changes even with stable population</a:t>
            </a:r>
            <a:r>
              <a:rPr lang="en-US" dirty="0">
                <a:latin typeface="Times New Roman" panose="02020603050405020304" pitchFamily="18" charset="0"/>
                <a:cs typeface="Times New Roman" panose="02020603050405020304" pitchFamily="18" charset="0"/>
              </a:rPr>
              <a:t>, indicating other factors</a:t>
            </a:r>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Overall, population growth has a </a:t>
            </a:r>
            <a:r>
              <a:rPr lang="en-US" b="1" dirty="0">
                <a:latin typeface="Times New Roman" panose="02020603050405020304" pitchFamily="18" charset="0"/>
                <a:cs typeface="Times New Roman" panose="02020603050405020304" pitchFamily="18" charset="0"/>
              </a:rPr>
              <a:t>positive impact on total emissions</a:t>
            </a:r>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B4FEA02F-9491-BBEE-F771-9A83275FBF54}"/>
              </a:ext>
            </a:extLst>
          </p:cNvPr>
          <p:cNvPicPr>
            <a:picLocks noChangeAspect="1"/>
          </p:cNvPicPr>
          <p:nvPr/>
        </p:nvPicPr>
        <p:blipFill>
          <a:blip r:embed="rId2"/>
          <a:stretch>
            <a:fillRect/>
          </a:stretch>
        </p:blipFill>
        <p:spPr>
          <a:xfrm>
            <a:off x="552830" y="1374481"/>
            <a:ext cx="5913632" cy="2438611"/>
          </a:xfrm>
          <a:prstGeom prst="rect">
            <a:avLst/>
          </a:prstGeom>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87A72C07-4BFE-5A66-A6A2-0D6E76542497}"/>
              </a:ext>
            </a:extLst>
          </p:cNvPr>
          <p:cNvPicPr>
            <a:picLocks noChangeAspect="1"/>
          </p:cNvPicPr>
          <p:nvPr/>
        </p:nvPicPr>
        <p:blipFill>
          <a:blip r:embed="rId3"/>
          <a:stretch>
            <a:fillRect/>
          </a:stretch>
        </p:blipFill>
        <p:spPr>
          <a:xfrm>
            <a:off x="6781800" y="1953118"/>
            <a:ext cx="5244158" cy="1645977"/>
          </a:xfrm>
          <a:prstGeom prst="rect">
            <a:avLst/>
          </a:prstGeom>
          <a:effectLst>
            <a:outerShdw blurRad="50800" dist="38100" dir="5400000" algn="t" rotWithShape="0">
              <a:prstClr val="black">
                <a:alpha val="40000"/>
              </a:prst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p:nvPr/>
        </p:nvSpPr>
        <p:spPr>
          <a:xfrm>
            <a:off x="457200" y="443440"/>
            <a:ext cx="10991215" cy="323807"/>
          </a:xfrm>
          <a:prstGeom prst="rect">
            <a:avLst/>
          </a:prstGeom>
        </p:spPr>
        <p:txBody>
          <a:bodyPr vert="horz" wrap="square" lIns="0" tIns="15875" rIns="0" bIns="0" rtlCol="0">
            <a:spAutoFit/>
          </a:bodyPr>
          <a:lstStyle/>
          <a:p>
            <a:pPr marL="12700">
              <a:lnSpc>
                <a:spcPct val="100000"/>
              </a:lnSpc>
              <a:spcBef>
                <a:spcPts val="125"/>
              </a:spcBef>
            </a:pPr>
            <a:r>
              <a:rPr lang="en-US" sz="2000" b="1" dirty="0">
                <a:solidFill>
                  <a:srgbClr val="FF0000"/>
                </a:solidFill>
                <a:latin typeface="Arial" panose="020B0604020202020204" pitchFamily="34" charset="0"/>
                <a:cs typeface="Arial" panose="020B0604020202020204" pitchFamily="34" charset="0"/>
              </a:rPr>
              <a:t>4.</a:t>
            </a:r>
            <a:r>
              <a:rPr lang="en-US" sz="2000" b="1" spc="125" dirty="0">
                <a:solidFill>
                  <a:srgbClr val="FF0000"/>
                </a:solidFill>
                <a:latin typeface="Arial" panose="020B0604020202020204" pitchFamily="34" charset="0"/>
                <a:cs typeface="Arial" panose="020B0604020202020204" pitchFamily="34" charset="0"/>
              </a:rPr>
              <a:t> </a:t>
            </a:r>
            <a:r>
              <a:rPr lang="en-US" sz="2000" b="1" dirty="0">
                <a:solidFill>
                  <a:srgbClr val="FF0000"/>
                </a:solidFill>
                <a:latin typeface="Arial" panose="020B0604020202020204" pitchFamily="34" charset="0"/>
                <a:cs typeface="Arial" panose="020B0604020202020204" pitchFamily="34" charset="0"/>
              </a:rPr>
              <a:t>Has energy consumption increased or decreased over the years for major economies?</a:t>
            </a:r>
            <a:endParaRPr lang="en-US" sz="2000" b="1" dirty="0">
              <a:latin typeface="Arial" panose="020B0604020202020204" pitchFamily="34" charset="0"/>
              <a:cs typeface="Arial" panose="020B0604020202020204" pitchFamily="34" charset="0"/>
            </a:endParaRPr>
          </a:p>
        </p:txBody>
      </p:sp>
      <p:sp>
        <p:nvSpPr>
          <p:cNvPr id="3" name="object 3"/>
          <p:cNvSpPr txBox="1"/>
          <p:nvPr/>
        </p:nvSpPr>
        <p:spPr>
          <a:xfrm>
            <a:off x="600391" y="1083039"/>
            <a:ext cx="999808" cy="631583"/>
          </a:xfrm>
          <a:prstGeom prst="rect">
            <a:avLst/>
          </a:prstGeom>
        </p:spPr>
        <p:txBody>
          <a:bodyPr vert="horz" wrap="square" lIns="0" tIns="15875" rIns="0" bIns="0" rtlCol="0">
            <a:spAutoFit/>
          </a:bodyPr>
          <a:lstStyle/>
          <a:p>
            <a:pPr marL="12700">
              <a:lnSpc>
                <a:spcPct val="100000"/>
              </a:lnSpc>
              <a:spcBef>
                <a:spcPts val="125"/>
              </a:spcBef>
              <a:tabLst>
                <a:tab pos="5669915" algn="l"/>
              </a:tabLst>
            </a:pPr>
            <a:r>
              <a:rPr sz="2000" b="1" u="sng" spc="-10" dirty="0">
                <a:uFill>
                  <a:solidFill>
                    <a:srgbClr val="000000"/>
                  </a:solidFill>
                </a:uFill>
                <a:latin typeface="Times New Roman"/>
                <a:cs typeface="Times New Roman"/>
              </a:rPr>
              <a:t>Query</a:t>
            </a:r>
            <a:r>
              <a:rPr sz="2000" b="1" u="none" dirty="0">
                <a:latin typeface="Times New Roman"/>
                <a:cs typeface="Times New Roman"/>
              </a:rPr>
              <a:t>	</a:t>
            </a:r>
            <a:endParaRPr sz="2000" dirty="0">
              <a:latin typeface="Times New Roman"/>
              <a:cs typeface="Times New Roman"/>
            </a:endParaRPr>
          </a:p>
        </p:txBody>
      </p:sp>
      <p:sp>
        <p:nvSpPr>
          <p:cNvPr id="10" name="object 3">
            <a:extLst>
              <a:ext uri="{FF2B5EF4-FFF2-40B4-BE49-F238E27FC236}">
                <a16:creationId xmlns:a16="http://schemas.microsoft.com/office/drawing/2014/main" id="{270AEE56-E673-BB1F-BF2D-DE17B3959A6C}"/>
              </a:ext>
            </a:extLst>
          </p:cNvPr>
          <p:cNvSpPr txBox="1"/>
          <p:nvPr/>
        </p:nvSpPr>
        <p:spPr>
          <a:xfrm>
            <a:off x="7086600" y="767247"/>
            <a:ext cx="1143000" cy="631583"/>
          </a:xfrm>
          <a:prstGeom prst="rect">
            <a:avLst/>
          </a:prstGeom>
        </p:spPr>
        <p:txBody>
          <a:bodyPr vert="horz" wrap="square" lIns="0" tIns="15875" rIns="0" bIns="0" rtlCol="0">
            <a:spAutoFit/>
          </a:bodyPr>
          <a:lstStyle/>
          <a:p>
            <a:pPr marL="12700">
              <a:lnSpc>
                <a:spcPct val="100000"/>
              </a:lnSpc>
              <a:spcBef>
                <a:spcPts val="125"/>
              </a:spcBef>
              <a:tabLst>
                <a:tab pos="5669915" algn="l"/>
              </a:tabLst>
            </a:pPr>
            <a:r>
              <a:rPr sz="2000" b="1" u="none" dirty="0">
                <a:latin typeface="Times New Roman"/>
                <a:cs typeface="Times New Roman"/>
              </a:rPr>
              <a:t>	</a:t>
            </a: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09AC798E-8445-90AA-26FA-06921512D7E2}"/>
              </a:ext>
            </a:extLst>
          </p:cNvPr>
          <p:cNvSpPr txBox="1"/>
          <p:nvPr/>
        </p:nvSpPr>
        <p:spPr>
          <a:xfrm>
            <a:off x="600391" y="4813240"/>
            <a:ext cx="7924800" cy="1477328"/>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major economies show increasing energy consumption over time.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China and India have the strongest growth.</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Germany, Japan, and Russia show slight decline or fluctuation.</a:t>
            </a:r>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BA20FCC5-66C9-A2E2-8DA3-63E7C7984840}"/>
              </a:ext>
            </a:extLst>
          </p:cNvPr>
          <p:cNvPicPr>
            <a:picLocks noChangeAspect="1"/>
          </p:cNvPicPr>
          <p:nvPr/>
        </p:nvPicPr>
        <p:blipFill>
          <a:blip r:embed="rId2"/>
          <a:stretch>
            <a:fillRect/>
          </a:stretch>
        </p:blipFill>
        <p:spPr>
          <a:xfrm>
            <a:off x="7010400" y="1664454"/>
            <a:ext cx="4086858" cy="2450346"/>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3BD273F3-2404-AFD3-A5AC-0A20F1EAA563}"/>
              </a:ext>
            </a:extLst>
          </p:cNvPr>
          <p:cNvPicPr>
            <a:picLocks noChangeAspect="1"/>
          </p:cNvPicPr>
          <p:nvPr/>
        </p:nvPicPr>
        <p:blipFill>
          <a:blip r:embed="rId3"/>
          <a:stretch>
            <a:fillRect/>
          </a:stretch>
        </p:blipFill>
        <p:spPr>
          <a:xfrm>
            <a:off x="914400" y="1600200"/>
            <a:ext cx="4144528" cy="29718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89572" y="267437"/>
            <a:ext cx="10126028" cy="631583"/>
          </a:xfrm>
          <a:prstGeom prst="rect">
            <a:avLst/>
          </a:prstGeom>
        </p:spPr>
        <p:txBody>
          <a:bodyPr vert="horz" wrap="square" lIns="0" tIns="15875" rIns="0" bIns="0" rtlCol="0">
            <a:spAutoFit/>
          </a:bodyPr>
          <a:lstStyle/>
          <a:p>
            <a:pPr marL="12700">
              <a:lnSpc>
                <a:spcPct val="100000"/>
              </a:lnSpc>
              <a:spcBef>
                <a:spcPts val="125"/>
              </a:spcBef>
            </a:pPr>
            <a:r>
              <a:rPr lang="en-US" sz="2000" b="1" dirty="0"/>
              <a:t>5.Which energy sources show the fastest growth in consumption over time across all countries?</a:t>
            </a:r>
            <a:endParaRPr lang="en-US" sz="2000" b="1" dirty="0">
              <a:latin typeface="Arial" panose="020B0604020202020204" pitchFamily="34" charset="0"/>
              <a:cs typeface="Arial" panose="020B0604020202020204" pitchFamily="34" charset="0"/>
            </a:endParaRPr>
          </a:p>
        </p:txBody>
      </p:sp>
      <p:sp>
        <p:nvSpPr>
          <p:cNvPr id="3" name="object 3"/>
          <p:cNvSpPr txBox="1"/>
          <p:nvPr/>
        </p:nvSpPr>
        <p:spPr>
          <a:xfrm>
            <a:off x="708659" y="1022032"/>
            <a:ext cx="716280" cy="335280"/>
          </a:xfrm>
          <a:prstGeom prst="rect">
            <a:avLst/>
          </a:prstGeom>
        </p:spPr>
        <p:txBody>
          <a:bodyPr vert="horz" wrap="square" lIns="0" tIns="16510" rIns="0" bIns="0" rtlCol="0">
            <a:spAutoFit/>
          </a:bodyPr>
          <a:lstStyle/>
          <a:p>
            <a:pPr marL="12700">
              <a:lnSpc>
                <a:spcPct val="100000"/>
              </a:lnSpc>
              <a:spcBef>
                <a:spcPts val="130"/>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11" name="object 4"/>
          <p:cNvSpPr txBox="1"/>
          <p:nvPr/>
        </p:nvSpPr>
        <p:spPr>
          <a:xfrm>
            <a:off x="8153400" y="1002086"/>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9" name="TextBox 8">
            <a:extLst>
              <a:ext uri="{FF2B5EF4-FFF2-40B4-BE49-F238E27FC236}">
                <a16:creationId xmlns:a16="http://schemas.microsoft.com/office/drawing/2014/main" id="{903CBD39-403C-8F9F-1417-884F103CCDCC}"/>
              </a:ext>
            </a:extLst>
          </p:cNvPr>
          <p:cNvSpPr txBox="1"/>
          <p:nvPr/>
        </p:nvSpPr>
        <p:spPr>
          <a:xfrm>
            <a:off x="533400" y="4455812"/>
            <a:ext cx="10731725" cy="2031325"/>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Petroleum and other liquids show the fastest and most consistent growth with the highest increases.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Natural gas grows quickly but is unstable with fluctuations over time.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Renewables grow steadily, indicating a gradual shift toward clean energy.</a:t>
            </a:r>
          </a:p>
          <a:p>
            <a:pPr algn="just"/>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algn="just"/>
            <a:r>
              <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 </a:t>
            </a:r>
          </a:p>
        </p:txBody>
      </p:sp>
      <p:pic>
        <p:nvPicPr>
          <p:cNvPr id="10" name="Picture 9">
            <a:extLst>
              <a:ext uri="{FF2B5EF4-FFF2-40B4-BE49-F238E27FC236}">
                <a16:creationId xmlns:a16="http://schemas.microsoft.com/office/drawing/2014/main" id="{88D28311-D990-B17A-9787-3AE3C25D519A}"/>
              </a:ext>
            </a:extLst>
          </p:cNvPr>
          <p:cNvPicPr>
            <a:picLocks noChangeAspect="1"/>
          </p:cNvPicPr>
          <p:nvPr/>
        </p:nvPicPr>
        <p:blipFill>
          <a:blip r:embed="rId2"/>
          <a:stretch>
            <a:fillRect/>
          </a:stretch>
        </p:blipFill>
        <p:spPr>
          <a:xfrm>
            <a:off x="7317622" y="1868289"/>
            <a:ext cx="4416249" cy="1636911"/>
          </a:xfrm>
          <a:prstGeom prst="rect">
            <a:avLst/>
          </a:prstGeom>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AD866EF8-7BF5-11D4-BD40-410E3673866B}"/>
              </a:ext>
            </a:extLst>
          </p:cNvPr>
          <p:cNvPicPr>
            <a:picLocks noChangeAspect="1"/>
          </p:cNvPicPr>
          <p:nvPr/>
        </p:nvPicPr>
        <p:blipFill>
          <a:blip r:embed="rId3"/>
          <a:stretch>
            <a:fillRect/>
          </a:stretch>
        </p:blipFill>
        <p:spPr>
          <a:xfrm>
            <a:off x="771975" y="1635440"/>
            <a:ext cx="4701947" cy="2438611"/>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364172" y="257358"/>
            <a:ext cx="8084820" cy="1601078"/>
          </a:xfrm>
          <a:prstGeom prst="rect">
            <a:avLst/>
          </a:prstGeom>
        </p:spPr>
        <p:txBody>
          <a:bodyPr vert="horz" wrap="square" lIns="0" tIns="61594" rIns="0" bIns="0" rtlCol="0">
            <a:spAutoFit/>
          </a:bodyPr>
          <a:lstStyle/>
          <a:p>
            <a:pPr marL="12700">
              <a:lnSpc>
                <a:spcPct val="100000"/>
              </a:lnSpc>
              <a:spcBef>
                <a:spcPts val="484"/>
              </a:spcBef>
            </a:pPr>
            <a:r>
              <a:rPr lang="en-US" sz="2000" dirty="0">
                <a:latin typeface="Times New Roman" panose="02020603050405020304" pitchFamily="18" charset="0"/>
                <a:cs typeface="Times New Roman" panose="02020603050405020304" pitchFamily="18" charset="0"/>
              </a:rPr>
              <a:t> </a:t>
            </a:r>
            <a:r>
              <a:rPr lang="en-US" sz="2000" b="1" dirty="0">
                <a:solidFill>
                  <a:schemeClr val="accent4">
                    <a:lumMod val="50000"/>
                  </a:schemeClr>
                </a:solidFill>
                <a:latin typeface="Times New Roman" panose="02020603050405020304" pitchFamily="18" charset="0"/>
                <a:cs typeface="Times New Roman" panose="02020603050405020304" pitchFamily="18" charset="0"/>
              </a:rPr>
              <a:t>Ratio &amp; Per Capita Analysis.</a:t>
            </a:r>
            <a:br>
              <a:rPr lang="en-US" sz="2000" b="1" dirty="0">
                <a:solidFill>
                  <a:schemeClr val="accent4">
                    <a:lumMod val="50000"/>
                  </a:schemeClr>
                </a:solidFill>
                <a:latin typeface="Times New Roman" panose="02020603050405020304" pitchFamily="18" charset="0"/>
                <a:cs typeface="Times New Roman" panose="02020603050405020304" pitchFamily="18" charset="0"/>
              </a:rPr>
            </a:br>
            <a:br>
              <a:rPr lang="en-IN" sz="2000" b="1" dirty="0">
                <a:solidFill>
                  <a:schemeClr val="accent4">
                    <a:lumMod val="50000"/>
                  </a:schemeClr>
                </a:solidFill>
                <a:latin typeface="Times New Roman" panose="02020603050405020304" pitchFamily="18" charset="0"/>
                <a:cs typeface="Times New Roman" panose="02020603050405020304" pitchFamily="18" charset="0"/>
              </a:rPr>
            </a:br>
            <a:r>
              <a:rPr sz="2000" b="1" dirty="0">
                <a:latin typeface="Arial" panose="020B0604020202020204" pitchFamily="34" charset="0"/>
                <a:cs typeface="Arial" panose="020B0604020202020204" pitchFamily="34" charset="0"/>
              </a:rPr>
              <a:t>1.</a:t>
            </a:r>
            <a:r>
              <a:rPr sz="2000" b="1" spc="4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emission-to-GDP ratio for each country by year?</a:t>
            </a:r>
            <a:br>
              <a:rPr lang="en-US" sz="2000" dirty="0">
                <a:latin typeface="Times New Roman" panose="02020603050405020304" pitchFamily="18" charset="0"/>
                <a:cs typeface="Times New Roman" panose="02020603050405020304" pitchFamily="18" charset="0"/>
              </a:rPr>
            </a:br>
            <a:br>
              <a:rPr lang="en-IN"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br>
            <a:r>
              <a:rPr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endParaRPr sz="2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5899262" y="1494051"/>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4604F2D2-F859-8202-E818-1E2E79D8A761}"/>
              </a:ext>
            </a:extLst>
          </p:cNvPr>
          <p:cNvSpPr txBox="1"/>
          <p:nvPr/>
        </p:nvSpPr>
        <p:spPr>
          <a:xfrm>
            <a:off x="533399" y="4824513"/>
            <a:ext cx="10731725" cy="1477328"/>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Emission-to-GDP ratio varies widely across countries and years</a:t>
            </a:r>
            <a:r>
              <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Higher ratios indicate more emission-intensive economies, while lower ratios show better sustainability</a:t>
            </a:r>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countries show improvement over time with decreasing ratios </a:t>
            </a:r>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E9F6599D-364F-8171-D3F1-1D2F4DCFDC72}"/>
              </a:ext>
            </a:extLst>
          </p:cNvPr>
          <p:cNvPicPr>
            <a:picLocks noChangeAspect="1"/>
          </p:cNvPicPr>
          <p:nvPr/>
        </p:nvPicPr>
        <p:blipFill>
          <a:blip r:embed="rId2"/>
          <a:stretch>
            <a:fillRect/>
          </a:stretch>
        </p:blipFill>
        <p:spPr>
          <a:xfrm>
            <a:off x="496824" y="2133600"/>
            <a:ext cx="3772227" cy="2415749"/>
          </a:xfrm>
          <a:prstGeom prst="rect">
            <a:avLst/>
          </a:prstGeom>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8046E97B-4CEF-C9AB-44AD-14FCD42B1609}"/>
              </a:ext>
            </a:extLst>
          </p:cNvPr>
          <p:cNvPicPr>
            <a:picLocks noChangeAspect="1"/>
          </p:cNvPicPr>
          <p:nvPr/>
        </p:nvPicPr>
        <p:blipFill>
          <a:blip r:embed="rId3"/>
          <a:stretch>
            <a:fillRect/>
          </a:stretch>
        </p:blipFill>
        <p:spPr>
          <a:xfrm>
            <a:off x="5943600" y="2807587"/>
            <a:ext cx="6036127" cy="1410210"/>
          </a:xfrm>
          <a:prstGeom prst="rect">
            <a:avLst/>
          </a:prstGeom>
          <a:effectLst>
            <a:outerShdw blurRad="50800" dist="38100" dir="5400000" algn="t" rotWithShape="0">
              <a:prstClr val="black">
                <a:alpha val="40000"/>
              </a:prst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381000" y="373139"/>
            <a:ext cx="10532428" cy="1023997"/>
          </a:xfrm>
          <a:prstGeom prst="rect">
            <a:avLst/>
          </a:prstGeom>
        </p:spPr>
        <p:txBody>
          <a:bodyPr vert="horz" wrap="square" lIns="0" tIns="61594" rIns="0" bIns="0" rtlCol="0">
            <a:spAutoFit/>
          </a:bodyPr>
          <a:lstStyle/>
          <a:p>
            <a:pPr marL="12700">
              <a:lnSpc>
                <a:spcPct val="100000"/>
              </a:lnSpc>
              <a:spcBef>
                <a:spcPts val="484"/>
              </a:spcBef>
            </a:pPr>
            <a:r>
              <a:rPr lang="en-IN" sz="2000" b="1" dirty="0">
                <a:latin typeface="Arial" panose="020B0604020202020204" pitchFamily="34" charset="0"/>
                <a:cs typeface="Arial" panose="020B0604020202020204" pitchFamily="34" charset="0"/>
              </a:rPr>
              <a:t>2</a:t>
            </a:r>
            <a:r>
              <a:rPr sz="2000" b="1" dirty="0">
                <a:latin typeface="Arial" panose="020B0604020202020204" pitchFamily="34" charset="0"/>
                <a:cs typeface="Arial" panose="020B0604020202020204" pitchFamily="34" charset="0"/>
              </a:rPr>
              <a:t>.</a:t>
            </a:r>
            <a:r>
              <a:rPr sz="2000" b="1" spc="3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energy consumption per capita for each country over the last decade?</a:t>
            </a:r>
            <a:endParaRPr sz="2000" b="1" dirty="0">
              <a:latin typeface="Arial" panose="020B0604020202020204" pitchFamily="34" charset="0"/>
              <a:cs typeface="Arial" panose="020B0604020202020204" pitchFamily="34" charset="0"/>
            </a:endParaRPr>
          </a:p>
          <a:p>
            <a:pPr marL="179705">
              <a:lnSpc>
                <a:spcPct val="100000"/>
              </a:lnSpc>
              <a:spcBef>
                <a:spcPts val="295"/>
              </a:spcBef>
            </a:pPr>
            <a:br>
              <a:rPr lang="en-IN"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br>
            <a:r>
              <a:rPr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endParaRPr sz="2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7239000" y="954528"/>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BB042F86-1F91-D3FA-1E86-3BCD39177348}"/>
              </a:ext>
            </a:extLst>
          </p:cNvPr>
          <p:cNvSpPr txBox="1"/>
          <p:nvPr/>
        </p:nvSpPr>
        <p:spPr>
          <a:xfrm>
            <a:off x="533400" y="4434921"/>
            <a:ext cx="7656951" cy="2308324"/>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Countries like </a:t>
            </a:r>
            <a:r>
              <a:rPr lang="en-US" b="1" dirty="0">
                <a:latin typeface="Times New Roman" panose="02020603050405020304" pitchFamily="18" charset="0"/>
                <a:cs typeface="Times New Roman" panose="02020603050405020304" pitchFamily="18" charset="0"/>
              </a:rPr>
              <a:t>Qatar, UAE, and Bahrain</a:t>
            </a:r>
            <a:r>
              <a:rPr lang="en-US" dirty="0">
                <a:latin typeface="Times New Roman" panose="02020603050405020304" pitchFamily="18" charset="0"/>
                <a:cs typeface="Times New Roman" panose="02020603050405020304" pitchFamily="18" charset="0"/>
              </a:rPr>
              <a:t> show very high per capita energy consumption.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Developed and resource-rich countries generally have </a:t>
            </a:r>
            <a:r>
              <a:rPr lang="en-US" b="1" dirty="0">
                <a:latin typeface="Times New Roman" panose="02020603050405020304" pitchFamily="18" charset="0"/>
                <a:cs typeface="Times New Roman" panose="02020603050405020304" pitchFamily="18" charset="0"/>
              </a:rPr>
              <a:t>higher consumption per person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Developing countries show </a:t>
            </a:r>
            <a:r>
              <a:rPr lang="en-US" b="1" dirty="0">
                <a:latin typeface="Times New Roman" panose="02020603050405020304" pitchFamily="18" charset="0"/>
                <a:cs typeface="Times New Roman" panose="02020603050405020304" pitchFamily="18" charset="0"/>
              </a:rPr>
              <a:t>lower consumption</a:t>
            </a:r>
            <a:r>
              <a:rPr lang="en-US" dirty="0">
                <a:latin typeface="Times New Roman" panose="02020603050405020304" pitchFamily="18" charset="0"/>
                <a:cs typeface="Times New Roman" panose="02020603050405020304" pitchFamily="18" charset="0"/>
              </a:rPr>
              <a:t>, indicating limited access and usage</a:t>
            </a:r>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0DE35C67-6821-06CA-96B8-B897BFB2C385}"/>
              </a:ext>
            </a:extLst>
          </p:cNvPr>
          <p:cNvPicPr>
            <a:picLocks noChangeAspect="1"/>
          </p:cNvPicPr>
          <p:nvPr/>
        </p:nvPicPr>
        <p:blipFill>
          <a:blip r:embed="rId2"/>
          <a:stretch>
            <a:fillRect/>
          </a:stretch>
        </p:blipFill>
        <p:spPr>
          <a:xfrm>
            <a:off x="6211161" y="1969381"/>
            <a:ext cx="4331002" cy="1382790"/>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15067070-24B6-1298-A629-972E0A2D67F2}"/>
              </a:ext>
            </a:extLst>
          </p:cNvPr>
          <p:cNvPicPr>
            <a:picLocks noChangeAspect="1"/>
          </p:cNvPicPr>
          <p:nvPr/>
        </p:nvPicPr>
        <p:blipFill>
          <a:blip r:embed="rId3"/>
          <a:stretch>
            <a:fillRect/>
          </a:stretch>
        </p:blipFill>
        <p:spPr>
          <a:xfrm>
            <a:off x="762000" y="1737240"/>
            <a:ext cx="4008467" cy="219475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64172" y="257358"/>
            <a:ext cx="8170228" cy="985525"/>
          </a:xfrm>
          <a:prstGeom prst="rect">
            <a:avLst/>
          </a:prstGeom>
        </p:spPr>
        <p:txBody>
          <a:bodyPr vert="horz" wrap="square" lIns="0" tIns="61594" rIns="0" bIns="0" rtlCol="0">
            <a:spAutoFit/>
          </a:bodyPr>
          <a:lstStyle/>
          <a:p>
            <a:pPr marL="12700">
              <a:lnSpc>
                <a:spcPct val="100000"/>
              </a:lnSpc>
              <a:spcBef>
                <a:spcPts val="484"/>
              </a:spcBef>
            </a:pPr>
            <a:r>
              <a:rPr lang="en-IN" sz="2000" b="1" dirty="0">
                <a:latin typeface="Arial" panose="020B0604020202020204" pitchFamily="34" charset="0"/>
                <a:cs typeface="Arial" panose="020B0604020202020204" pitchFamily="34" charset="0"/>
              </a:rPr>
              <a:t>3</a:t>
            </a:r>
            <a:r>
              <a:rPr sz="2000" b="1" dirty="0">
                <a:latin typeface="Arial" panose="020B0604020202020204" pitchFamily="34" charset="0"/>
                <a:cs typeface="Arial" panose="020B0604020202020204" pitchFamily="34" charset="0"/>
              </a:rPr>
              <a:t>.</a:t>
            </a:r>
            <a:r>
              <a:rPr sz="2000" b="1" spc="3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How does energy production per capita vary across countries?</a:t>
            </a:r>
            <a:br>
              <a:rPr lang="en-US" sz="2000" dirty="0">
                <a:latin typeface="Times New Roman" panose="02020603050405020304" pitchFamily="18" charset="0"/>
                <a:cs typeface="Times New Roman" panose="02020603050405020304" pitchFamily="18" charset="0"/>
              </a:rPr>
            </a:br>
            <a:br>
              <a:rPr lang="en-IN"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br>
            <a:r>
              <a:rPr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r>
              <a:rPr sz="2000" b="1" u="none" dirty="0">
                <a:solidFill>
                  <a:srgbClr val="000000"/>
                </a:solidFill>
                <a:latin typeface="Times New Roman" panose="02020603050405020304" pitchFamily="18" charset="0"/>
                <a:cs typeface="Times New Roman" panose="02020603050405020304" pitchFamily="18" charset="0"/>
              </a:rPr>
              <a:t>	</a:t>
            </a:r>
            <a:r>
              <a:rPr lang="en-US" sz="2000" b="1" u="none" dirty="0">
                <a:solidFill>
                  <a:srgbClr val="000000"/>
                </a:solidFill>
                <a:latin typeface="Times New Roman" panose="02020603050405020304" pitchFamily="18" charset="0"/>
                <a:cs typeface="Times New Roman" panose="02020603050405020304" pitchFamily="18" charset="0"/>
              </a:rPr>
              <a:t>						</a:t>
            </a:r>
            <a:r>
              <a:rPr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Output</a:t>
            </a:r>
            <a:endParaRPr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3BE6F78-9017-86D5-B8C7-2BDE0604B0B9}"/>
              </a:ext>
            </a:extLst>
          </p:cNvPr>
          <p:cNvPicPr>
            <a:picLocks noChangeAspect="1"/>
          </p:cNvPicPr>
          <p:nvPr/>
        </p:nvPicPr>
        <p:blipFill>
          <a:blip r:embed="rId2"/>
          <a:stretch>
            <a:fillRect/>
          </a:stretch>
        </p:blipFill>
        <p:spPr>
          <a:xfrm>
            <a:off x="6762904" y="1616633"/>
            <a:ext cx="3542991" cy="2274642"/>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D69CC52D-4651-D509-677A-8DF773A5A97B}"/>
              </a:ext>
            </a:extLst>
          </p:cNvPr>
          <p:cNvPicPr>
            <a:picLocks noChangeAspect="1"/>
          </p:cNvPicPr>
          <p:nvPr/>
        </p:nvPicPr>
        <p:blipFill>
          <a:blip r:embed="rId3"/>
          <a:stretch>
            <a:fillRect/>
          </a:stretch>
        </p:blipFill>
        <p:spPr>
          <a:xfrm>
            <a:off x="364172" y="1616633"/>
            <a:ext cx="5486400" cy="1451888"/>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B0B27D07-213D-EBE9-C9D4-3160C0DB1ACD}"/>
              </a:ext>
            </a:extLst>
          </p:cNvPr>
          <p:cNvSpPr txBox="1"/>
          <p:nvPr/>
        </p:nvSpPr>
        <p:spPr>
          <a:xfrm>
            <a:off x="457200" y="4364204"/>
            <a:ext cx="7856855" cy="2031325"/>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Countries like </a:t>
            </a:r>
            <a:r>
              <a:rPr lang="en-US" b="1" dirty="0">
                <a:latin typeface="Times New Roman" panose="02020603050405020304" pitchFamily="18" charset="0"/>
                <a:cs typeface="Times New Roman" panose="02020603050405020304" pitchFamily="18" charset="0"/>
              </a:rPr>
              <a:t>Qatar, Kuwait, and Norway</a:t>
            </a:r>
            <a:r>
              <a:rPr lang="en-US" dirty="0">
                <a:latin typeface="Times New Roman" panose="02020603050405020304" pitchFamily="18" charset="0"/>
                <a:cs typeface="Times New Roman" panose="02020603050405020304" pitchFamily="18" charset="0"/>
              </a:rPr>
              <a:t> have very high energy production per capita.</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Developed/resource-rich countries produce </a:t>
            </a:r>
            <a:r>
              <a:rPr lang="en-US" b="1" dirty="0">
                <a:latin typeface="Times New Roman" panose="02020603050405020304" pitchFamily="18" charset="0"/>
                <a:cs typeface="Times New Roman" panose="02020603050405020304" pitchFamily="18" charset="0"/>
              </a:rPr>
              <a:t>more energy per person.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Many countries show </a:t>
            </a:r>
            <a:r>
              <a:rPr lang="en-US" b="1" dirty="0">
                <a:latin typeface="Times New Roman" panose="02020603050405020304" pitchFamily="18" charset="0"/>
                <a:cs typeface="Times New Roman" panose="02020603050405020304" pitchFamily="18" charset="0"/>
              </a:rPr>
              <a:t>very low values</a:t>
            </a:r>
            <a:r>
              <a:rPr lang="en-US" dirty="0">
                <a:latin typeface="Times New Roman" panose="02020603050405020304" pitchFamily="18" charset="0"/>
                <a:cs typeface="Times New Roman" panose="02020603050405020304" pitchFamily="18" charset="0"/>
              </a:rPr>
              <a:t>, indicating limited production or high population.</a:t>
            </a:r>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p:nvPr/>
        </p:nvSpPr>
        <p:spPr>
          <a:xfrm>
            <a:off x="364172" y="302894"/>
            <a:ext cx="9827260" cy="324448"/>
          </a:xfrm>
          <a:prstGeom prst="rect">
            <a:avLst/>
          </a:prstGeom>
        </p:spPr>
        <p:txBody>
          <a:bodyPr vert="horz" wrap="square" lIns="0" tIns="16510" rIns="0" bIns="0" rtlCol="0">
            <a:spAutoFit/>
          </a:bodyPr>
          <a:lstStyle/>
          <a:p>
            <a:pPr marL="12700">
              <a:lnSpc>
                <a:spcPct val="100000"/>
              </a:lnSpc>
              <a:spcBef>
                <a:spcPts val="130"/>
              </a:spcBef>
            </a:pPr>
            <a:r>
              <a:rPr lang="en-IN" sz="2000" b="1" dirty="0">
                <a:solidFill>
                  <a:srgbClr val="FF0000"/>
                </a:solidFill>
                <a:latin typeface="Arial" panose="020B0604020202020204" pitchFamily="34" charset="0"/>
                <a:cs typeface="Arial" panose="020B0604020202020204" pitchFamily="34" charset="0"/>
              </a:rPr>
              <a:t>4</a:t>
            </a:r>
            <a:r>
              <a:rPr sz="2000" b="1" dirty="0">
                <a:solidFill>
                  <a:srgbClr val="FF0000"/>
                </a:solidFill>
                <a:latin typeface="Arial" panose="020B0604020202020204" pitchFamily="34" charset="0"/>
                <a:cs typeface="Arial" panose="020B0604020202020204" pitchFamily="34" charset="0"/>
              </a:rPr>
              <a:t>.</a:t>
            </a:r>
            <a:r>
              <a:rPr lang="en-US" sz="2000" b="1" dirty="0">
                <a:solidFill>
                  <a:srgbClr val="FF0000"/>
                </a:solidFill>
                <a:latin typeface="Arial" panose="020B0604020202020204" pitchFamily="34" charset="0"/>
                <a:cs typeface="Arial" panose="020B0604020202020204" pitchFamily="34" charset="0"/>
              </a:rPr>
              <a:t> Which countries have the highest energy consumption relative to GDP?</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533400" y="731471"/>
            <a:ext cx="9601200" cy="323807"/>
          </a:xfrm>
          <a:prstGeom prst="rect">
            <a:avLst/>
          </a:prstGeom>
        </p:spPr>
        <p:txBody>
          <a:bodyPr vert="horz" wrap="square" lIns="0" tIns="15875" rIns="0" bIns="0" rtlCol="0">
            <a:spAutoFit/>
          </a:bodyPr>
          <a:lstStyle/>
          <a:p>
            <a:pPr marL="12700">
              <a:lnSpc>
                <a:spcPct val="100000"/>
              </a:lnSpc>
              <a:spcBef>
                <a:spcPts val="125"/>
              </a:spcBef>
              <a:tabLst>
                <a:tab pos="6762115" algn="l"/>
              </a:tabLst>
            </a:pPr>
            <a:r>
              <a:rPr sz="2000" b="1" u="sng" spc="-10" dirty="0">
                <a:uFill>
                  <a:solidFill>
                    <a:srgbClr val="000000"/>
                  </a:solidFill>
                </a:uFill>
                <a:latin typeface="Times New Roman"/>
                <a:cs typeface="Times New Roman"/>
              </a:rPr>
              <a:t>Query</a:t>
            </a:r>
            <a:r>
              <a:rPr sz="2000" b="1" u="none" dirty="0">
                <a:latin typeface="Times New Roman"/>
                <a:cs typeface="Times New Roman"/>
              </a:rPr>
              <a:t>	</a:t>
            </a:r>
            <a:r>
              <a:rPr lang="en-IN" sz="2000" b="1" u="none" dirty="0">
                <a:latin typeface="Times New Roman"/>
                <a:cs typeface="Times New Roman"/>
              </a:rPr>
              <a:t>            </a:t>
            </a: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8" name="TextBox 7">
            <a:extLst>
              <a:ext uri="{FF2B5EF4-FFF2-40B4-BE49-F238E27FC236}">
                <a16:creationId xmlns:a16="http://schemas.microsoft.com/office/drawing/2014/main" id="{E7AEA52D-A1E0-3B3C-6049-043BCEC45424}"/>
              </a:ext>
            </a:extLst>
          </p:cNvPr>
          <p:cNvSpPr txBox="1"/>
          <p:nvPr/>
        </p:nvSpPr>
        <p:spPr>
          <a:xfrm>
            <a:off x="288706" y="4217941"/>
            <a:ext cx="8093294" cy="2308324"/>
          </a:xfrm>
          <a:prstGeom prst="rect">
            <a:avLst/>
          </a:prstGeom>
          <a:noFill/>
        </p:spPr>
        <p:txBody>
          <a:bodyPr wrap="square">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latin typeface="Times New Roman" panose="02020603050405020304" pitchFamily="18" charset="0"/>
                <a:cs typeface="Times New Roman" panose="02020603050405020304" pitchFamily="18" charset="0"/>
              </a:rPr>
              <a:t> Countries like </a:t>
            </a:r>
            <a:r>
              <a:rPr lang="en-US" b="1" dirty="0">
                <a:latin typeface="Times New Roman" panose="02020603050405020304" pitchFamily="18" charset="0"/>
                <a:cs typeface="Times New Roman" panose="02020603050405020304" pitchFamily="18" charset="0"/>
              </a:rPr>
              <a:t>Honduras, Cabo Verde, Egypt, and Bolivia</a:t>
            </a:r>
            <a:r>
              <a:rPr lang="en-US" dirty="0">
                <a:latin typeface="Times New Roman" panose="02020603050405020304" pitchFamily="18" charset="0"/>
                <a:cs typeface="Times New Roman" panose="02020603050405020304" pitchFamily="18" charset="0"/>
              </a:rPr>
              <a:t> have the highest energy consumption relative to GDP</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latin typeface="Times New Roman" panose="02020603050405020304" pitchFamily="18" charset="0"/>
                <a:cs typeface="Times New Roman" panose="02020603050405020304" pitchFamily="18" charset="0"/>
              </a:rPr>
              <a:t> High values indicate </a:t>
            </a:r>
            <a:r>
              <a:rPr lang="en-US" b="1" dirty="0">
                <a:latin typeface="Times New Roman" panose="02020603050405020304" pitchFamily="18" charset="0"/>
                <a:cs typeface="Times New Roman" panose="02020603050405020304" pitchFamily="18" charset="0"/>
              </a:rPr>
              <a:t>energy-intensive economies with lower efficiency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latin typeface="Times New Roman" panose="02020603050405020304" pitchFamily="18" charset="0"/>
                <a:cs typeface="Times New Roman" panose="02020603050405020304" pitchFamily="18" charset="0"/>
              </a:rPr>
              <a:t> Some developed countries (e.g., Netherlands, Spain) also show high ratios due to industrial activity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Overall, higher ratio means </a:t>
            </a:r>
            <a:r>
              <a:rPr lang="en-US" b="1" dirty="0">
                <a:latin typeface="Times New Roman" panose="02020603050405020304" pitchFamily="18" charset="0"/>
                <a:cs typeface="Times New Roman" panose="02020603050405020304" pitchFamily="18" charset="0"/>
              </a:rPr>
              <a:t>more energy is used to generate economic output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8B04120-4EC7-6F51-E23D-F2C594E8E0AE}"/>
              </a:ext>
            </a:extLst>
          </p:cNvPr>
          <p:cNvPicPr>
            <a:picLocks noChangeAspect="1"/>
          </p:cNvPicPr>
          <p:nvPr/>
        </p:nvPicPr>
        <p:blipFill>
          <a:blip r:embed="rId2"/>
          <a:stretch>
            <a:fillRect/>
          </a:stretch>
        </p:blipFill>
        <p:spPr>
          <a:xfrm>
            <a:off x="707934" y="1177695"/>
            <a:ext cx="3436919" cy="1703218"/>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2186A1E3-D383-66DA-2481-F6F65A28DEBF}"/>
              </a:ext>
            </a:extLst>
          </p:cNvPr>
          <p:cNvPicPr>
            <a:picLocks noChangeAspect="1"/>
          </p:cNvPicPr>
          <p:nvPr/>
        </p:nvPicPr>
        <p:blipFill>
          <a:blip r:embed="rId3"/>
          <a:stretch>
            <a:fillRect/>
          </a:stretch>
        </p:blipFill>
        <p:spPr>
          <a:xfrm>
            <a:off x="720126" y="2880913"/>
            <a:ext cx="6073866" cy="1194933"/>
          </a:xfrm>
          <a:prstGeom prst="rect">
            <a:avLst/>
          </a:prstGeom>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3EB5AA16-B3E6-DE92-DD94-40672D1FD68D}"/>
              </a:ext>
            </a:extLst>
          </p:cNvPr>
          <p:cNvPicPr>
            <a:picLocks noChangeAspect="1"/>
          </p:cNvPicPr>
          <p:nvPr/>
        </p:nvPicPr>
        <p:blipFill>
          <a:blip r:embed="rId4"/>
          <a:stretch>
            <a:fillRect/>
          </a:stretch>
        </p:blipFill>
        <p:spPr>
          <a:xfrm>
            <a:off x="7794240" y="1325610"/>
            <a:ext cx="2343408" cy="2446107"/>
          </a:xfrm>
          <a:prstGeom prst="rect">
            <a:avLst/>
          </a:prstGeom>
          <a:effectLst>
            <a:outerShdw blurRad="50800" dist="38100" dir="5400000" algn="t" rotWithShape="0">
              <a:prstClr val="black">
                <a:alpha val="40000"/>
              </a:prst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364172" y="257358"/>
            <a:ext cx="11370628" cy="1601078"/>
          </a:xfrm>
          <a:prstGeom prst="rect">
            <a:avLst/>
          </a:prstGeom>
        </p:spPr>
        <p:txBody>
          <a:bodyPr vert="horz" wrap="square" lIns="0" tIns="61594" rIns="0" bIns="0" rtlCol="0">
            <a:spAutoFit/>
          </a:bodyPr>
          <a:lstStyle/>
          <a:p>
            <a:pPr marL="12700">
              <a:lnSpc>
                <a:spcPct val="100000"/>
              </a:lnSpc>
              <a:spcBef>
                <a:spcPts val="484"/>
              </a:spcBef>
            </a:pPr>
            <a:r>
              <a:rPr lang="en-US" sz="2000" b="1" dirty="0">
                <a:solidFill>
                  <a:schemeClr val="accent4">
                    <a:lumMod val="50000"/>
                  </a:schemeClr>
                </a:solidFill>
                <a:latin typeface="Times New Roman" panose="02020603050405020304" pitchFamily="18" charset="0"/>
                <a:cs typeface="Times New Roman" panose="02020603050405020304" pitchFamily="18" charset="0"/>
              </a:rPr>
              <a:t> Global Comparisons</a:t>
            </a:r>
            <a:br>
              <a:rPr lang="en-US"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sz="2000" b="1" dirty="0">
                <a:latin typeface="Arial" panose="020B0604020202020204" pitchFamily="34" charset="0"/>
                <a:cs typeface="Arial" panose="020B0604020202020204" pitchFamily="34" charset="0"/>
              </a:rPr>
              <a:t>1.</a:t>
            </a:r>
            <a:r>
              <a:rPr sz="2000" b="1" spc="3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are the top 10 countries by population and how do their emissions compare?</a:t>
            </a:r>
            <a:br>
              <a:rPr lang="en-US" sz="2000" b="1" dirty="0">
                <a:latin typeface="Arial" panose="020B0604020202020204" pitchFamily="34" charset="0"/>
                <a:cs typeface="Arial" panose="020B0604020202020204" pitchFamily="34" charset="0"/>
              </a:rPr>
            </a:br>
            <a:br>
              <a:rPr lang="en-IN"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br>
            <a:r>
              <a:rPr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endParaRPr sz="2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6781800" y="1553876"/>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pic>
        <p:nvPicPr>
          <p:cNvPr id="5" name="Picture 4">
            <a:extLst>
              <a:ext uri="{FF2B5EF4-FFF2-40B4-BE49-F238E27FC236}">
                <a16:creationId xmlns:a16="http://schemas.microsoft.com/office/drawing/2014/main" id="{633FF6ED-9357-FE17-7756-E8BE7BC4D800}"/>
              </a:ext>
            </a:extLst>
          </p:cNvPr>
          <p:cNvPicPr>
            <a:picLocks noChangeAspect="1"/>
          </p:cNvPicPr>
          <p:nvPr/>
        </p:nvPicPr>
        <p:blipFill>
          <a:blip r:embed="rId2"/>
          <a:stretch>
            <a:fillRect/>
          </a:stretch>
        </p:blipFill>
        <p:spPr>
          <a:xfrm>
            <a:off x="6858000" y="2443705"/>
            <a:ext cx="3900070" cy="174356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FAC876DD-FD23-88A3-53B7-4357899195E4}"/>
              </a:ext>
            </a:extLst>
          </p:cNvPr>
          <p:cNvPicPr>
            <a:picLocks noChangeAspect="1"/>
          </p:cNvPicPr>
          <p:nvPr/>
        </p:nvPicPr>
        <p:blipFill>
          <a:blip r:embed="rId3"/>
          <a:stretch>
            <a:fillRect/>
          </a:stretch>
        </p:blipFill>
        <p:spPr>
          <a:xfrm>
            <a:off x="533400" y="2133600"/>
            <a:ext cx="3310758" cy="2743200"/>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F4CBA03E-4C6F-8D7F-9158-2CA9D56CCB28}"/>
              </a:ext>
            </a:extLst>
          </p:cNvPr>
          <p:cNvSpPr txBox="1"/>
          <p:nvPr/>
        </p:nvSpPr>
        <p:spPr>
          <a:xfrm>
            <a:off x="288706" y="4999564"/>
            <a:ext cx="8626694" cy="1477328"/>
          </a:xfrm>
          <a:prstGeom prst="rect">
            <a:avLst/>
          </a:prstGeom>
          <a:noFill/>
        </p:spPr>
        <p:txBody>
          <a:bodyPr wrap="square">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latin typeface="Times New Roman" panose="02020603050405020304" pitchFamily="18" charset="0"/>
                <a:cs typeface="Times New Roman" panose="02020603050405020304" pitchFamily="18" charset="0"/>
              </a:rPr>
              <a:t> China and the United States have the highest emissions among top populated countries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India has a large population but lower emissions compared to them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Countries like Pakistan, Nigeria, and Bangladesh have high population but low emissions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5746" y="206755"/>
            <a:ext cx="11316653" cy="1344399"/>
          </a:xfrm>
          <a:prstGeom prst="rect">
            <a:avLst/>
          </a:prstGeom>
        </p:spPr>
        <p:txBody>
          <a:bodyPr vert="horz" wrap="square" lIns="0" tIns="112197" rIns="0" bIns="0" rtlCol="0">
            <a:spAutoFit/>
          </a:bodyPr>
          <a:lstStyle/>
          <a:p>
            <a:pPr marL="111125">
              <a:spcBef>
                <a:spcPts val="484"/>
              </a:spcBef>
            </a:pPr>
            <a:r>
              <a:rPr lang="en-US" sz="2000" b="1" dirty="0">
                <a:latin typeface="Arial" panose="020B0604020202020204" pitchFamily="34" charset="0"/>
                <a:cs typeface="Arial" panose="020B0604020202020204" pitchFamily="34" charset="0"/>
              </a:rPr>
              <a:t>2.</a:t>
            </a:r>
            <a:r>
              <a:rPr lang="en-US" sz="2000" b="1" spc="55" dirty="0">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Which countries have reduced their total emissions the most over time? </a:t>
            </a:r>
            <a:br>
              <a:rPr lang="en-US" sz="1050" dirty="0"/>
            </a:br>
            <a:br>
              <a:rPr lang="en-US" sz="2000" b="1" dirty="0">
                <a:latin typeface="Arial" panose="020B0604020202020204" pitchFamily="34" charset="0"/>
                <a:cs typeface="Arial" panose="020B0604020202020204" pitchFamily="34" charset="0"/>
              </a:rPr>
            </a:br>
            <a:br>
              <a:rPr lang="en-US"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br>
            <a:r>
              <a:rPr lang="en-US"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endParaRPr lang="en-US" sz="2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6934200" y="1216509"/>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Rectangle 1">
            <a:extLst>
              <a:ext uri="{FF2B5EF4-FFF2-40B4-BE49-F238E27FC236}">
                <a16:creationId xmlns:a16="http://schemas.microsoft.com/office/drawing/2014/main" id="{2B8A9678-1D90-15FE-4DF3-25BA66AEB179}"/>
              </a:ext>
            </a:extLst>
          </p:cNvPr>
          <p:cNvSpPr>
            <a:spLocks noChangeArrowheads="1"/>
          </p:cNvSpPr>
          <p:nvPr/>
        </p:nvSpPr>
        <p:spPr bwMode="auto">
          <a:xfrm>
            <a:off x="457200" y="4737918"/>
            <a:ext cx="960119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China, India, and the United States show the highest emission reductions.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Large economies dominate the reduction trend.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Small countries show very minimal changes.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E313EB9-4E92-9510-E0B7-E3410FF7A0FB}"/>
              </a:ext>
            </a:extLst>
          </p:cNvPr>
          <p:cNvPicPr>
            <a:picLocks noChangeAspect="1"/>
          </p:cNvPicPr>
          <p:nvPr/>
        </p:nvPicPr>
        <p:blipFill>
          <a:blip r:embed="rId2"/>
          <a:stretch>
            <a:fillRect/>
          </a:stretch>
        </p:blipFill>
        <p:spPr>
          <a:xfrm>
            <a:off x="7391400" y="1684418"/>
            <a:ext cx="2362200" cy="2880732"/>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36E1B27D-9567-ABAA-B64C-CC31BC395EBE}"/>
              </a:ext>
            </a:extLst>
          </p:cNvPr>
          <p:cNvPicPr>
            <a:picLocks noChangeAspect="1"/>
          </p:cNvPicPr>
          <p:nvPr/>
        </p:nvPicPr>
        <p:blipFill>
          <a:blip r:embed="rId3"/>
          <a:stretch>
            <a:fillRect/>
          </a:stretch>
        </p:blipFill>
        <p:spPr>
          <a:xfrm>
            <a:off x="457199" y="1905000"/>
            <a:ext cx="6300571" cy="19812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64172" y="302894"/>
            <a:ext cx="9741535" cy="324448"/>
          </a:xfrm>
          <a:prstGeom prst="rect">
            <a:avLst/>
          </a:prstGeom>
        </p:spPr>
        <p:txBody>
          <a:bodyPr vert="horz" wrap="square" lIns="0" tIns="16510" rIns="0" bIns="0" rtlCol="0">
            <a:spAutoFit/>
          </a:bodyPr>
          <a:lstStyle/>
          <a:p>
            <a:pPr marL="12700">
              <a:lnSpc>
                <a:spcPct val="100000"/>
              </a:lnSpc>
              <a:spcBef>
                <a:spcPts val="130"/>
              </a:spcBef>
            </a:pPr>
            <a:r>
              <a:rPr lang="en-IN" sz="2000" b="1" dirty="0">
                <a:latin typeface="Arial" panose="020B0604020202020204" pitchFamily="34" charset="0"/>
                <a:cs typeface="Arial" panose="020B0604020202020204" pitchFamily="34" charset="0"/>
              </a:rPr>
              <a:t>3</a:t>
            </a:r>
            <a:r>
              <a:rPr sz="2000" b="1" dirty="0">
                <a:latin typeface="Arial" panose="020B0604020202020204" pitchFamily="34" charset="0"/>
                <a:cs typeface="Arial" panose="020B0604020202020204" pitchFamily="34" charset="0"/>
              </a:rPr>
              <a:t>.</a:t>
            </a:r>
            <a:r>
              <a:rPr sz="2000" b="1" spc="4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global share (%) of emissions by country?</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531494" y="886523"/>
            <a:ext cx="716915"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7086600" y="836473"/>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5" name="Rectangle 1">
            <a:extLst>
              <a:ext uri="{FF2B5EF4-FFF2-40B4-BE49-F238E27FC236}">
                <a16:creationId xmlns:a16="http://schemas.microsoft.com/office/drawing/2014/main" id="{D037E319-50F9-B08F-246F-1E6629CD4B13}"/>
              </a:ext>
            </a:extLst>
          </p:cNvPr>
          <p:cNvSpPr>
            <a:spLocks noChangeArrowheads="1"/>
          </p:cNvSpPr>
          <p:nvPr/>
        </p:nvSpPr>
        <p:spPr bwMode="auto">
          <a:xfrm>
            <a:off x="670090" y="4272677"/>
            <a:ext cx="739673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l" rtl="0" eaLnBrk="0" fontAlgn="base" hangingPunct="0">
              <a:spcBef>
                <a:spcPct val="0"/>
              </a:spcBef>
              <a:spcAft>
                <a:spcPct val="0"/>
              </a:spcAft>
            </a:pPr>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l" rtl="0" eaLnBrk="0" fontAlgn="base" hangingPunct="0">
              <a:spcBef>
                <a:spcPct val="0"/>
              </a:spcBef>
              <a:spcAft>
                <a:spcPct val="0"/>
              </a:spcAf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China (~32%) and United States (~13%)</a:t>
            </a:r>
            <a:r>
              <a:rPr lang="en-US" dirty="0">
                <a:latin typeface="Times New Roman" panose="02020603050405020304" pitchFamily="18" charset="0"/>
                <a:cs typeface="Times New Roman" panose="02020603050405020304" pitchFamily="18" charset="0"/>
              </a:rPr>
              <a:t> contribute the largest share of global emissions</a:t>
            </a:r>
            <a:r>
              <a:rPr lang="en-US" b="1" dirty="0">
                <a:latin typeface="Times New Roman" panose="02020603050405020304" pitchFamily="18" charset="0"/>
                <a:cs typeface="Times New Roman" panose="02020603050405020304" pitchFamily="18" charset="0"/>
              </a:rPr>
              <a:t>.</a:t>
            </a:r>
          </a:p>
          <a:p>
            <a:pPr marL="285750" indent="-285750" algn="l" rtl="0" eaLnBrk="0" fontAlgn="base" hangingPunct="0">
              <a:spcBef>
                <a:spcPct val="0"/>
              </a:spcBef>
              <a:spcAft>
                <a:spcPct val="0"/>
              </a:spcAf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India (~7%) and Russia (~5%)</a:t>
            </a:r>
            <a:r>
              <a:rPr lang="en-US" dirty="0">
                <a:latin typeface="Times New Roman" panose="02020603050405020304" pitchFamily="18" charset="0"/>
                <a:cs typeface="Times New Roman" panose="02020603050405020304" pitchFamily="18" charset="0"/>
              </a:rPr>
              <a:t> are also major contributors.</a:t>
            </a:r>
          </a:p>
          <a:p>
            <a:pPr marL="285750" indent="-285750" algn="l" rtl="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other countries contribute </a:t>
            </a:r>
            <a:r>
              <a:rPr lang="en-US" b="1" dirty="0">
                <a:latin typeface="Times New Roman" panose="02020603050405020304" pitchFamily="18" charset="0"/>
                <a:cs typeface="Times New Roman" panose="02020603050405020304" pitchFamily="18" charset="0"/>
              </a:rPr>
              <a:t>less than 2% each</a:t>
            </a:r>
            <a:r>
              <a:rPr lang="en-US" dirty="0">
                <a:latin typeface="Times New Roman" panose="02020603050405020304" pitchFamily="18" charset="0"/>
                <a:cs typeface="Times New Roman" panose="02020603050405020304" pitchFamily="18" charset="0"/>
              </a:rPr>
              <a:t>, showing emissions are concentrated in a few nations. </a:t>
            </a:r>
          </a:p>
          <a:p>
            <a:pPr algn="l" rtl="0"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47D0F8C-B02C-AE59-6106-D89BE9DC7399}"/>
              </a:ext>
            </a:extLst>
          </p:cNvPr>
          <p:cNvPicPr>
            <a:picLocks noChangeAspect="1"/>
          </p:cNvPicPr>
          <p:nvPr/>
        </p:nvPicPr>
        <p:blipFill>
          <a:blip r:embed="rId2"/>
          <a:stretch>
            <a:fillRect/>
          </a:stretch>
        </p:blipFill>
        <p:spPr>
          <a:xfrm>
            <a:off x="670090" y="1507557"/>
            <a:ext cx="6260932" cy="1714722"/>
          </a:xfrm>
          <a:prstGeom prst="rect">
            <a:avLst/>
          </a:prstGeom>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F512ABC6-DF27-C050-CE41-226B6A7E455D}"/>
              </a:ext>
            </a:extLst>
          </p:cNvPr>
          <p:cNvPicPr>
            <a:picLocks noChangeAspect="1"/>
          </p:cNvPicPr>
          <p:nvPr/>
        </p:nvPicPr>
        <p:blipFill>
          <a:blip r:embed="rId3"/>
          <a:stretch>
            <a:fillRect/>
          </a:stretch>
        </p:blipFill>
        <p:spPr>
          <a:xfrm>
            <a:off x="7391400" y="1600200"/>
            <a:ext cx="4026053" cy="2107001"/>
          </a:xfrm>
          <a:prstGeom prst="rect">
            <a:avLst/>
          </a:prstGeom>
          <a:effectLst>
            <a:outerShdw blurRad="50800" dist="38100" dir="5400000" algn="t" rotWithShape="0">
              <a:prstClr val="black">
                <a:alpha val="40000"/>
              </a:prst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64172" y="216788"/>
            <a:ext cx="9636125" cy="411459"/>
          </a:xfrm>
          <a:prstGeom prst="rect">
            <a:avLst/>
          </a:prstGeom>
        </p:spPr>
        <p:txBody>
          <a:bodyPr vert="horz" wrap="square" lIns="0" tIns="52705" rIns="0" bIns="0" rtlCol="0">
            <a:spAutoFit/>
          </a:bodyPr>
          <a:lstStyle/>
          <a:p>
            <a:pPr marL="110489" marR="5080" indent="-98425">
              <a:lnSpc>
                <a:spcPts val="3080"/>
              </a:lnSpc>
              <a:spcBef>
                <a:spcPts val="415"/>
              </a:spcBef>
            </a:pPr>
            <a:r>
              <a:rPr lang="en-IN" sz="2000" b="1" dirty="0">
                <a:latin typeface="Arial" panose="020B0604020202020204" pitchFamily="34" charset="0"/>
                <a:cs typeface="Arial" panose="020B0604020202020204" pitchFamily="34" charset="0"/>
              </a:rPr>
              <a:t>4</a:t>
            </a:r>
            <a:r>
              <a:rPr sz="2000" b="1" dirty="0">
                <a:latin typeface="Arial" panose="020B0604020202020204" pitchFamily="34" charset="0"/>
                <a:cs typeface="Arial" panose="020B0604020202020204" pitchFamily="34" charset="0"/>
              </a:rPr>
              <a:t>.</a:t>
            </a:r>
            <a:r>
              <a:rPr sz="2000" b="1" spc="4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global average GDP, emission, and population by year?</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351603" y="914400"/>
            <a:ext cx="716280" cy="335280"/>
          </a:xfrm>
          <a:prstGeom prst="rect">
            <a:avLst/>
          </a:prstGeom>
        </p:spPr>
        <p:txBody>
          <a:bodyPr vert="horz" wrap="square" lIns="0" tIns="16510" rIns="0" bIns="0" rtlCol="0">
            <a:spAutoFit/>
          </a:bodyPr>
          <a:lstStyle/>
          <a:p>
            <a:pPr marL="12700">
              <a:lnSpc>
                <a:spcPct val="100000"/>
              </a:lnSpc>
              <a:spcBef>
                <a:spcPts val="130"/>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6102096" y="1008178"/>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5" name="Rectangle 1">
            <a:extLst>
              <a:ext uri="{FF2B5EF4-FFF2-40B4-BE49-F238E27FC236}">
                <a16:creationId xmlns:a16="http://schemas.microsoft.com/office/drawing/2014/main" id="{0130823F-33EA-9EEF-2DA5-4E365C811C1C}"/>
              </a:ext>
            </a:extLst>
          </p:cNvPr>
          <p:cNvSpPr>
            <a:spLocks noChangeArrowheads="1"/>
          </p:cNvSpPr>
          <p:nvPr/>
        </p:nvSpPr>
        <p:spPr bwMode="auto">
          <a:xfrm>
            <a:off x="609600" y="4688175"/>
            <a:ext cx="73914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l" rtl="0" eaLnBrk="0" fontAlgn="base" hangingPunct="0">
              <a:spcBef>
                <a:spcPct val="0"/>
              </a:spcBef>
              <a:spcAft>
                <a:spcPct val="0"/>
              </a:spcAft>
            </a:pPr>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l" rtl="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Global average </a:t>
            </a:r>
            <a:r>
              <a:rPr lang="en-US" b="1" dirty="0">
                <a:latin typeface="Times New Roman" panose="02020603050405020304" pitchFamily="18" charset="0"/>
                <a:cs typeface="Times New Roman" panose="02020603050405020304" pitchFamily="18" charset="0"/>
              </a:rPr>
              <a:t>GDP, emissions, and population show a steady increase from 2020 to 2023.</a:t>
            </a:r>
            <a:endParaRPr lang="en-US" dirty="0">
              <a:latin typeface="Times New Roman" panose="02020603050405020304" pitchFamily="18" charset="0"/>
              <a:cs typeface="Times New Roman" panose="02020603050405020304" pitchFamily="18" charset="0"/>
            </a:endParaRPr>
          </a:p>
          <a:p>
            <a:pPr marL="285750" indent="-285750" algn="l" rtl="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indicates overall </a:t>
            </a:r>
            <a:r>
              <a:rPr lang="en-US" b="1" dirty="0">
                <a:latin typeface="Times New Roman" panose="02020603050405020304" pitchFamily="18" charset="0"/>
                <a:cs typeface="Times New Roman" panose="02020603050405020304" pitchFamily="18" charset="0"/>
              </a:rPr>
              <a:t>economic growth along with rising environmental impact.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AD87C0A-931D-9F60-1BC0-60AECCBA169E}"/>
              </a:ext>
            </a:extLst>
          </p:cNvPr>
          <p:cNvPicPr>
            <a:picLocks noChangeAspect="1"/>
          </p:cNvPicPr>
          <p:nvPr/>
        </p:nvPicPr>
        <p:blipFill>
          <a:blip r:embed="rId2"/>
          <a:stretch>
            <a:fillRect/>
          </a:stretch>
        </p:blipFill>
        <p:spPr>
          <a:xfrm>
            <a:off x="709743" y="1447800"/>
            <a:ext cx="2514818" cy="2842506"/>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151E159F-9861-1E74-5274-19D88C9AFCE8}"/>
              </a:ext>
            </a:extLst>
          </p:cNvPr>
          <p:cNvPicPr>
            <a:picLocks noChangeAspect="1"/>
          </p:cNvPicPr>
          <p:nvPr/>
        </p:nvPicPr>
        <p:blipFill>
          <a:blip r:embed="rId3"/>
          <a:stretch>
            <a:fillRect/>
          </a:stretch>
        </p:blipFill>
        <p:spPr>
          <a:xfrm>
            <a:off x="6182247" y="2057400"/>
            <a:ext cx="5570387" cy="1187314"/>
          </a:xfrm>
          <a:prstGeom prst="rect">
            <a:avLst/>
          </a:prstGeom>
          <a:effectLst>
            <a:outerShdw blurRad="50800" dist="38100" dir="5400000" algn="t" rotWithShape="0">
              <a:prstClr val="black">
                <a:alpha val="40000"/>
              </a:prst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017776" y="656336"/>
            <a:ext cx="8152765" cy="632460"/>
          </a:xfrm>
          <a:prstGeom prst="rect">
            <a:avLst/>
          </a:prstGeom>
        </p:spPr>
        <p:txBody>
          <a:bodyPr vert="horz" wrap="square" lIns="0" tIns="16510" rIns="0" bIns="0" rtlCol="0">
            <a:spAutoFit/>
          </a:bodyPr>
          <a:lstStyle/>
          <a:p>
            <a:pPr marL="12700">
              <a:lnSpc>
                <a:spcPct val="100000"/>
              </a:lnSpc>
              <a:spcBef>
                <a:spcPts val="130"/>
              </a:spcBef>
            </a:pPr>
            <a:r>
              <a:rPr dirty="0"/>
              <a:t>Key</a:t>
            </a:r>
            <a:r>
              <a:rPr spc="80" dirty="0"/>
              <a:t> </a:t>
            </a:r>
            <a:r>
              <a:rPr dirty="0"/>
              <a:t>Insights</a:t>
            </a:r>
            <a:r>
              <a:rPr spc="20" dirty="0"/>
              <a:t> </a:t>
            </a:r>
            <a:r>
              <a:rPr dirty="0"/>
              <a:t>and</a:t>
            </a:r>
            <a:r>
              <a:rPr spc="20" dirty="0"/>
              <a:t> </a:t>
            </a:r>
            <a:r>
              <a:rPr spc="-10" dirty="0"/>
              <a:t>Recommendations</a:t>
            </a:r>
          </a:p>
        </p:txBody>
      </p:sp>
      <p:sp>
        <p:nvSpPr>
          <p:cNvPr id="3" name="object 3"/>
          <p:cNvSpPr txBox="1"/>
          <p:nvPr/>
        </p:nvSpPr>
        <p:spPr>
          <a:xfrm>
            <a:off x="1066800" y="1981200"/>
            <a:ext cx="10702608" cy="2110001"/>
          </a:xfrm>
          <a:prstGeom prst="rect">
            <a:avLst/>
          </a:prstGeom>
        </p:spPr>
        <p:txBody>
          <a:bodyPr vert="horz" wrap="square" lIns="0" tIns="53975" rIns="0" bIns="0" rtlCol="0">
            <a:spAutoFit/>
          </a:bodyPr>
          <a:lstStyle/>
          <a:p>
            <a:pPr marL="12700" algn="just">
              <a:lnSpc>
                <a:spcPct val="100000"/>
              </a:lnSpc>
              <a:spcBef>
                <a:spcPts val="425"/>
              </a:spcBef>
            </a:pPr>
            <a:r>
              <a:rPr lang="en-IN" b="1" spc="-10" dirty="0">
                <a:latin typeface="Times New Roman"/>
                <a:cs typeface="Times New Roman"/>
              </a:rPr>
              <a:t>Emissions</a:t>
            </a:r>
          </a:p>
          <a:p>
            <a:pPr marL="12700" algn="just">
              <a:lnSpc>
                <a:spcPct val="100000"/>
              </a:lnSpc>
              <a:spcBef>
                <a:spcPts val="425"/>
              </a:spcBef>
            </a:pPr>
            <a:endParaRPr lang="en-IN" dirty="0">
              <a:latin typeface="Times New Roman"/>
              <a:cs typeface="Times New Roman"/>
            </a:endParaRPr>
          </a:p>
          <a:p>
            <a:pPr marL="354965" indent="-342265" algn="just">
              <a:lnSpc>
                <a:spcPts val="2065"/>
              </a:lnSpc>
              <a:spcBef>
                <a:spcPts val="30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Global emissions are </a:t>
            </a:r>
            <a:r>
              <a:rPr lang="en-US" b="1" dirty="0">
                <a:latin typeface="Times New Roman" panose="02020603050405020304" pitchFamily="18" charset="0"/>
                <a:cs typeface="Times New Roman" panose="02020603050405020304" pitchFamily="18" charset="0"/>
              </a:rPr>
              <a:t>increasing year by year</a:t>
            </a:r>
            <a:r>
              <a:rPr lang="en-US" dirty="0">
                <a:latin typeface="Times New Roman" panose="02020603050405020304" pitchFamily="18" charset="0"/>
                <a:cs typeface="Times New Roman" panose="02020603050405020304" pitchFamily="18" charset="0"/>
              </a:rPr>
              <a:t>, mainly due to fossil fuel usage</a:t>
            </a:r>
            <a:r>
              <a:rPr dirty="0">
                <a:latin typeface="Times New Roman" panose="02020603050405020304" pitchFamily="18" charset="0"/>
                <a:cs typeface="Times New Roman" panose="02020603050405020304" pitchFamily="18" charset="0"/>
              </a:rPr>
              <a:t>.</a:t>
            </a:r>
            <a:r>
              <a:rPr spc="490" dirty="0">
                <a:latin typeface="Times New Roman" panose="02020603050405020304" pitchFamily="18" charset="0"/>
                <a:cs typeface="Times New Roman" panose="02020603050405020304" pitchFamily="18" charset="0"/>
              </a:rPr>
              <a:t> </a:t>
            </a:r>
            <a:endParaRPr lang="en-IN" spc="490" dirty="0">
              <a:latin typeface="Times New Roman" panose="02020603050405020304" pitchFamily="18" charset="0"/>
              <a:cs typeface="Times New Roman" panose="02020603050405020304" pitchFamily="18" charset="0"/>
            </a:endParaRPr>
          </a:p>
          <a:p>
            <a:pPr marL="354965" indent="-342265" algn="just">
              <a:lnSpc>
                <a:spcPct val="100000"/>
              </a:lnSpc>
              <a:spcBef>
                <a:spcPts val="980"/>
              </a:spcBef>
              <a:buSzPct val="90000"/>
              <a:buFont typeface="Wingdings"/>
              <a:buChar char=""/>
              <a:tabLst>
                <a:tab pos="354965" algn="l"/>
              </a:tabLst>
            </a:pPr>
            <a:r>
              <a:rPr lang="en-US" b="1" dirty="0">
                <a:latin typeface="Times New Roman" panose="02020603050405020304" pitchFamily="18" charset="0"/>
                <a:cs typeface="Times New Roman" panose="02020603050405020304" pitchFamily="18" charset="0"/>
              </a:rPr>
              <a:t>Coal and petroleum</a:t>
            </a:r>
            <a:r>
              <a:rPr lang="en-US" dirty="0">
                <a:latin typeface="Times New Roman" panose="02020603050405020304" pitchFamily="18" charset="0"/>
                <a:cs typeface="Times New Roman" panose="02020603050405020304" pitchFamily="18" charset="0"/>
              </a:rPr>
              <a:t> are the biggest contributors to emissions.</a:t>
            </a:r>
          </a:p>
          <a:p>
            <a:pPr marL="354965" indent="-342265" algn="just">
              <a:lnSpc>
                <a:spcPct val="100000"/>
              </a:lnSpc>
              <a:spcBef>
                <a:spcPts val="980"/>
              </a:spcBef>
              <a:buSzPct val="90000"/>
              <a:buFont typeface="Wingdings"/>
              <a:buChar char=""/>
              <a:tabLst>
                <a:tab pos="354965" algn="l"/>
              </a:tabLst>
            </a:pPr>
            <a:r>
              <a:rPr lang="en-IN" dirty="0">
                <a:latin typeface="Times New Roman" panose="02020603050405020304" pitchFamily="18" charset="0"/>
                <a:cs typeface="Times New Roman" panose="02020603050405020304" pitchFamily="18" charset="0"/>
              </a:rPr>
              <a:t>Countries like </a:t>
            </a:r>
            <a:r>
              <a:rPr lang="en-IN" b="1" dirty="0">
                <a:latin typeface="Times New Roman" panose="02020603050405020304" pitchFamily="18" charset="0"/>
                <a:cs typeface="Times New Roman" panose="02020603050405020304" pitchFamily="18" charset="0"/>
              </a:rPr>
              <a:t>China, USA, India</a:t>
            </a:r>
            <a:r>
              <a:rPr lang="en-IN" dirty="0">
                <a:latin typeface="Times New Roman" panose="02020603050405020304" pitchFamily="18" charset="0"/>
                <a:cs typeface="Times New Roman" panose="02020603050405020304" pitchFamily="18" charset="0"/>
              </a:rPr>
              <a:t> dominate global emissions.</a:t>
            </a:r>
            <a:endParaRPr dirty="0">
              <a:latin typeface="Times New Roman" panose="02020603050405020304" pitchFamily="18" charset="0"/>
              <a:cs typeface="Times New Roman" panose="02020603050405020304" pitchFamily="18" charset="0"/>
            </a:endParaRPr>
          </a:p>
          <a:p>
            <a:pPr marL="354965" marR="7620" indent="-342900" algn="just">
              <a:lnSpc>
                <a:spcPct val="72000"/>
              </a:lnSpc>
              <a:spcBef>
                <a:spcPts val="975"/>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Need to shift towards </a:t>
            </a:r>
            <a:r>
              <a:rPr lang="en-US" b="1" dirty="0">
                <a:latin typeface="Times New Roman" panose="02020603050405020304" pitchFamily="18" charset="0"/>
                <a:cs typeface="Times New Roman" panose="02020603050405020304" pitchFamily="18" charset="0"/>
              </a:rPr>
              <a:t>renewable energy sources</a:t>
            </a:r>
            <a:r>
              <a:rPr lang="en-US" dirty="0">
                <a:latin typeface="Times New Roman" panose="02020603050405020304" pitchFamily="18" charset="0"/>
                <a:cs typeface="Times New Roman" panose="02020603050405020304" pitchFamily="18" charset="0"/>
              </a:rPr>
              <a:t> to reduce impact.</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017776" y="656336"/>
            <a:ext cx="8152765" cy="632460"/>
          </a:xfrm>
          <a:prstGeom prst="rect">
            <a:avLst/>
          </a:prstGeom>
        </p:spPr>
        <p:txBody>
          <a:bodyPr vert="horz" wrap="square" lIns="0" tIns="16510" rIns="0" bIns="0" rtlCol="0">
            <a:spAutoFit/>
          </a:bodyPr>
          <a:lstStyle/>
          <a:p>
            <a:pPr marL="12700">
              <a:lnSpc>
                <a:spcPct val="100000"/>
              </a:lnSpc>
              <a:spcBef>
                <a:spcPts val="130"/>
              </a:spcBef>
            </a:pPr>
            <a:r>
              <a:rPr dirty="0"/>
              <a:t>Key</a:t>
            </a:r>
            <a:r>
              <a:rPr spc="80" dirty="0"/>
              <a:t> </a:t>
            </a:r>
            <a:r>
              <a:rPr dirty="0"/>
              <a:t>Insights</a:t>
            </a:r>
            <a:r>
              <a:rPr spc="20" dirty="0"/>
              <a:t> </a:t>
            </a:r>
            <a:r>
              <a:rPr dirty="0"/>
              <a:t>and</a:t>
            </a:r>
            <a:r>
              <a:rPr spc="20" dirty="0"/>
              <a:t> </a:t>
            </a:r>
            <a:r>
              <a:rPr spc="-10" dirty="0"/>
              <a:t>Recommendations</a:t>
            </a:r>
          </a:p>
        </p:txBody>
      </p:sp>
      <p:sp>
        <p:nvSpPr>
          <p:cNvPr id="3" name="object 3"/>
          <p:cNvSpPr txBox="1"/>
          <p:nvPr/>
        </p:nvSpPr>
        <p:spPr>
          <a:xfrm>
            <a:off x="1066800" y="1905000"/>
            <a:ext cx="10287000" cy="2833724"/>
          </a:xfrm>
          <a:prstGeom prst="rect">
            <a:avLst/>
          </a:prstGeom>
        </p:spPr>
        <p:txBody>
          <a:bodyPr vert="horz" wrap="square" lIns="0" tIns="53975" rIns="0" bIns="0" rtlCol="0">
            <a:spAutoFit/>
          </a:bodyPr>
          <a:lstStyle/>
          <a:p>
            <a:pPr marL="12700" algn="just">
              <a:lnSpc>
                <a:spcPct val="100000"/>
              </a:lnSpc>
              <a:spcBef>
                <a:spcPts val="425"/>
              </a:spcBef>
            </a:pPr>
            <a:r>
              <a:rPr lang="en-IN" b="1" dirty="0">
                <a:latin typeface="Times New Roman" panose="02020603050405020304" pitchFamily="18" charset="0"/>
                <a:cs typeface="Times New Roman" panose="02020603050405020304" pitchFamily="18" charset="0"/>
              </a:rPr>
              <a:t>Energy</a:t>
            </a:r>
            <a:endParaRPr lang="en-IN" b="1" spc="-10" dirty="0">
              <a:latin typeface="Times New Roman" panose="02020603050405020304" pitchFamily="18" charset="0"/>
              <a:cs typeface="Times New Roman" panose="02020603050405020304" pitchFamily="18" charset="0"/>
            </a:endParaRPr>
          </a:p>
          <a:p>
            <a:pPr marL="12700" algn="just">
              <a:lnSpc>
                <a:spcPct val="150000"/>
              </a:lnSpc>
              <a:spcBef>
                <a:spcPts val="425"/>
              </a:spcBef>
            </a:pPr>
            <a:endParaRPr dirty="0">
              <a:latin typeface="Times New Roman"/>
              <a:cs typeface="Times New Roman"/>
            </a:endParaRPr>
          </a:p>
          <a:p>
            <a:pPr marL="354965" indent="-342265" algn="just">
              <a:lnSpc>
                <a:spcPct val="150000"/>
              </a:lnSpc>
              <a:spcBef>
                <a:spcPts val="30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Many countries show </a:t>
            </a:r>
            <a:r>
              <a:rPr lang="en-US" b="1" dirty="0">
                <a:latin typeface="Times New Roman" panose="02020603050405020304" pitchFamily="18" charset="0"/>
                <a:cs typeface="Times New Roman" panose="02020603050405020304" pitchFamily="18" charset="0"/>
              </a:rPr>
              <a:t>energy deficit (consumption &gt; production).</a:t>
            </a:r>
            <a:endParaRPr lang="en-IN" spc="490" dirty="0">
              <a:latin typeface="Times New Roman" panose="02020603050405020304" pitchFamily="18" charset="0"/>
              <a:cs typeface="Times New Roman" panose="02020603050405020304" pitchFamily="18" charset="0"/>
            </a:endParaRPr>
          </a:p>
          <a:p>
            <a:pPr marL="354965" indent="-342265" algn="just">
              <a:lnSpc>
                <a:spcPct val="150000"/>
              </a:lnSpc>
              <a:spcBef>
                <a:spcPts val="98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High dependency on </a:t>
            </a:r>
            <a:r>
              <a:rPr lang="en-US" b="1" dirty="0">
                <a:latin typeface="Times New Roman" panose="02020603050405020304" pitchFamily="18" charset="0"/>
                <a:cs typeface="Times New Roman" panose="02020603050405020304" pitchFamily="18" charset="0"/>
              </a:rPr>
              <a:t>energy imports</a:t>
            </a:r>
            <a:r>
              <a:rPr lang="en-US" dirty="0">
                <a:latin typeface="Times New Roman" panose="02020603050405020304" pitchFamily="18" charset="0"/>
                <a:cs typeface="Times New Roman" panose="02020603050405020304" pitchFamily="18" charset="0"/>
              </a:rPr>
              <a:t> in deficit countries.</a:t>
            </a:r>
            <a:endParaRPr dirty="0">
              <a:latin typeface="Times New Roman" panose="02020603050405020304" pitchFamily="18" charset="0"/>
              <a:cs typeface="Times New Roman" panose="02020603050405020304" pitchFamily="18" charset="0"/>
            </a:endParaRPr>
          </a:p>
          <a:p>
            <a:pPr marL="354965" marR="7620" indent="-342900" algn="just">
              <a:lnSpc>
                <a:spcPct val="150000"/>
              </a:lnSpc>
              <a:spcBef>
                <a:spcPts val="975"/>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Resource-rich countries have </a:t>
            </a:r>
            <a:r>
              <a:rPr lang="en-US" b="1" dirty="0">
                <a:latin typeface="Times New Roman" panose="02020603050405020304" pitchFamily="18" charset="0"/>
                <a:cs typeface="Times New Roman" panose="02020603050405020304" pitchFamily="18" charset="0"/>
              </a:rPr>
              <a:t>high production per capita.</a:t>
            </a:r>
          </a:p>
          <a:p>
            <a:pPr marL="354965" marR="7620" indent="-342900" algn="just">
              <a:lnSpc>
                <a:spcPct val="150000"/>
              </a:lnSpc>
              <a:spcBef>
                <a:spcPts val="975"/>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Improving </a:t>
            </a:r>
            <a:r>
              <a:rPr lang="en-US" b="1" dirty="0">
                <a:latin typeface="Times New Roman" panose="02020603050405020304" pitchFamily="18" charset="0"/>
                <a:cs typeface="Times New Roman" panose="02020603050405020304" pitchFamily="18" charset="0"/>
              </a:rPr>
              <a:t>energy efficiency and local production</a:t>
            </a:r>
            <a:r>
              <a:rPr lang="en-US" dirty="0">
                <a:latin typeface="Times New Roman" panose="02020603050405020304" pitchFamily="18" charset="0"/>
                <a:cs typeface="Times New Roman" panose="02020603050405020304" pitchFamily="18" charset="0"/>
              </a:rPr>
              <a:t> is important.</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5230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017776" y="656336"/>
            <a:ext cx="8152765" cy="632460"/>
          </a:xfrm>
          <a:prstGeom prst="rect">
            <a:avLst/>
          </a:prstGeom>
        </p:spPr>
        <p:txBody>
          <a:bodyPr vert="horz" wrap="square" lIns="0" tIns="16510" rIns="0" bIns="0" rtlCol="0">
            <a:spAutoFit/>
          </a:bodyPr>
          <a:lstStyle/>
          <a:p>
            <a:pPr marL="12700">
              <a:lnSpc>
                <a:spcPct val="100000"/>
              </a:lnSpc>
              <a:spcBef>
                <a:spcPts val="130"/>
              </a:spcBef>
            </a:pPr>
            <a:r>
              <a:rPr dirty="0"/>
              <a:t>Key</a:t>
            </a:r>
            <a:r>
              <a:rPr spc="80" dirty="0"/>
              <a:t> </a:t>
            </a:r>
            <a:r>
              <a:rPr dirty="0"/>
              <a:t>Insights</a:t>
            </a:r>
            <a:r>
              <a:rPr spc="20" dirty="0"/>
              <a:t> </a:t>
            </a:r>
            <a:r>
              <a:rPr dirty="0"/>
              <a:t>and</a:t>
            </a:r>
            <a:r>
              <a:rPr spc="20" dirty="0"/>
              <a:t> </a:t>
            </a:r>
            <a:r>
              <a:rPr spc="-10" dirty="0"/>
              <a:t>Recommendations</a:t>
            </a:r>
          </a:p>
        </p:txBody>
      </p:sp>
      <p:sp>
        <p:nvSpPr>
          <p:cNvPr id="3" name="object 3"/>
          <p:cNvSpPr txBox="1"/>
          <p:nvPr/>
        </p:nvSpPr>
        <p:spPr>
          <a:xfrm>
            <a:off x="1066800" y="1981200"/>
            <a:ext cx="10287000" cy="2564420"/>
          </a:xfrm>
          <a:prstGeom prst="rect">
            <a:avLst/>
          </a:prstGeom>
        </p:spPr>
        <p:txBody>
          <a:bodyPr vert="horz" wrap="square" lIns="0" tIns="53975" rIns="0" bIns="0" rtlCol="0">
            <a:spAutoFit/>
          </a:bodyPr>
          <a:lstStyle/>
          <a:p>
            <a:pPr marL="12700" algn="just">
              <a:lnSpc>
                <a:spcPct val="100000"/>
              </a:lnSpc>
              <a:spcBef>
                <a:spcPts val="425"/>
              </a:spcBef>
            </a:pPr>
            <a:r>
              <a:rPr lang="en-IN" b="1" dirty="0">
                <a:latin typeface="Times New Roman" panose="02020603050405020304" pitchFamily="18" charset="0"/>
                <a:cs typeface="Times New Roman" panose="02020603050405020304" pitchFamily="18" charset="0"/>
              </a:rPr>
              <a:t>Economy (GDP)</a:t>
            </a:r>
            <a:endParaRPr lang="en-IN" b="1" spc="-10" dirty="0">
              <a:latin typeface="Times New Roman" panose="02020603050405020304" pitchFamily="18" charset="0"/>
              <a:cs typeface="Times New Roman" panose="02020603050405020304" pitchFamily="18" charset="0"/>
            </a:endParaRPr>
          </a:p>
          <a:p>
            <a:pPr marL="12700" algn="just">
              <a:lnSpc>
                <a:spcPct val="150000"/>
              </a:lnSpc>
              <a:spcBef>
                <a:spcPts val="425"/>
              </a:spcBef>
            </a:pPr>
            <a:endParaRPr dirty="0">
              <a:latin typeface="Times New Roman"/>
              <a:cs typeface="Times New Roman"/>
            </a:endParaRPr>
          </a:p>
          <a:p>
            <a:pPr marL="354965" indent="-342265" algn="just">
              <a:lnSpc>
                <a:spcPct val="150000"/>
              </a:lnSpc>
              <a:spcBef>
                <a:spcPts val="30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GDP is </a:t>
            </a:r>
            <a:r>
              <a:rPr lang="en-US" b="1" dirty="0">
                <a:latin typeface="Times New Roman" panose="02020603050405020304" pitchFamily="18" charset="0"/>
                <a:cs typeface="Times New Roman" panose="02020603050405020304" pitchFamily="18" charset="0"/>
              </a:rPr>
              <a:t>growing steadily across most countries.</a:t>
            </a:r>
          </a:p>
          <a:p>
            <a:pPr marL="354965" indent="-342265" algn="just">
              <a:lnSpc>
                <a:spcPct val="150000"/>
              </a:lnSpc>
              <a:spcBef>
                <a:spcPts val="30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Higher GDP countries also show </a:t>
            </a:r>
            <a:r>
              <a:rPr lang="en-US" b="1" dirty="0">
                <a:latin typeface="Times New Roman" panose="02020603050405020304" pitchFamily="18" charset="0"/>
                <a:cs typeface="Times New Roman" panose="02020603050405020304" pitchFamily="18" charset="0"/>
              </a:rPr>
              <a:t>higher energy usage.</a:t>
            </a:r>
          </a:p>
          <a:p>
            <a:pPr marL="354965" indent="-342265" algn="just">
              <a:lnSpc>
                <a:spcPct val="150000"/>
              </a:lnSpc>
              <a:spcBef>
                <a:spcPts val="30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Economic growth is strongly linked with </a:t>
            </a:r>
            <a:r>
              <a:rPr lang="en-US" b="1" dirty="0">
                <a:latin typeface="Times New Roman" panose="02020603050405020304" pitchFamily="18" charset="0"/>
                <a:cs typeface="Times New Roman" panose="02020603050405020304" pitchFamily="18" charset="0"/>
              </a:rPr>
              <a:t>energy demand.</a:t>
            </a:r>
          </a:p>
          <a:p>
            <a:pPr marL="354965" indent="-342265" algn="just">
              <a:lnSpc>
                <a:spcPct val="150000"/>
              </a:lnSpc>
              <a:spcBef>
                <a:spcPts val="30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Need to balance </a:t>
            </a:r>
            <a:r>
              <a:rPr lang="en-US" b="1" dirty="0">
                <a:latin typeface="Times New Roman" panose="02020603050405020304" pitchFamily="18" charset="0"/>
                <a:cs typeface="Times New Roman" panose="02020603050405020304" pitchFamily="18" charset="0"/>
              </a:rPr>
              <a:t>growth with sustainability policies</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64565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017776" y="656336"/>
            <a:ext cx="8152765" cy="632460"/>
          </a:xfrm>
          <a:prstGeom prst="rect">
            <a:avLst/>
          </a:prstGeom>
        </p:spPr>
        <p:txBody>
          <a:bodyPr vert="horz" wrap="square" lIns="0" tIns="16510" rIns="0" bIns="0" rtlCol="0">
            <a:spAutoFit/>
          </a:bodyPr>
          <a:lstStyle/>
          <a:p>
            <a:pPr marL="12700">
              <a:lnSpc>
                <a:spcPct val="100000"/>
              </a:lnSpc>
              <a:spcBef>
                <a:spcPts val="130"/>
              </a:spcBef>
            </a:pPr>
            <a:r>
              <a:rPr dirty="0"/>
              <a:t>Key</a:t>
            </a:r>
            <a:r>
              <a:rPr spc="80" dirty="0"/>
              <a:t> </a:t>
            </a:r>
            <a:r>
              <a:rPr dirty="0"/>
              <a:t>Insights</a:t>
            </a:r>
            <a:r>
              <a:rPr spc="20" dirty="0"/>
              <a:t> </a:t>
            </a:r>
            <a:r>
              <a:rPr dirty="0"/>
              <a:t>and</a:t>
            </a:r>
            <a:r>
              <a:rPr spc="20" dirty="0"/>
              <a:t> </a:t>
            </a:r>
            <a:r>
              <a:rPr spc="-10" dirty="0"/>
              <a:t>Recommendations</a:t>
            </a:r>
          </a:p>
        </p:txBody>
      </p:sp>
      <p:sp>
        <p:nvSpPr>
          <p:cNvPr id="3" name="object 3"/>
          <p:cNvSpPr txBox="1"/>
          <p:nvPr/>
        </p:nvSpPr>
        <p:spPr>
          <a:xfrm>
            <a:off x="1066800" y="1981200"/>
            <a:ext cx="10287000" cy="2564420"/>
          </a:xfrm>
          <a:prstGeom prst="rect">
            <a:avLst/>
          </a:prstGeom>
        </p:spPr>
        <p:txBody>
          <a:bodyPr vert="horz" wrap="square" lIns="0" tIns="53975" rIns="0" bIns="0" rtlCol="0">
            <a:spAutoFit/>
          </a:bodyPr>
          <a:lstStyle/>
          <a:p>
            <a:pPr marL="12700" algn="just">
              <a:lnSpc>
                <a:spcPct val="100000"/>
              </a:lnSpc>
              <a:spcBef>
                <a:spcPts val="425"/>
              </a:spcBef>
            </a:pPr>
            <a:r>
              <a:rPr lang="en-IN" b="1" dirty="0">
                <a:latin typeface="Times New Roman" panose="02020603050405020304" pitchFamily="18" charset="0"/>
                <a:cs typeface="Times New Roman" panose="02020603050405020304" pitchFamily="18" charset="0"/>
              </a:rPr>
              <a:t>Population</a:t>
            </a:r>
            <a:endParaRPr lang="en-IN" b="1" spc="-10" dirty="0">
              <a:latin typeface="Times New Roman" panose="02020603050405020304" pitchFamily="18" charset="0"/>
              <a:cs typeface="Times New Roman" panose="02020603050405020304" pitchFamily="18" charset="0"/>
            </a:endParaRPr>
          </a:p>
          <a:p>
            <a:pPr marL="12700" algn="just">
              <a:lnSpc>
                <a:spcPct val="150000"/>
              </a:lnSpc>
              <a:spcBef>
                <a:spcPts val="425"/>
              </a:spcBef>
            </a:pPr>
            <a:endParaRPr dirty="0">
              <a:latin typeface="Times New Roman"/>
              <a:cs typeface="Times New Roman"/>
            </a:endParaRPr>
          </a:p>
          <a:p>
            <a:pPr marL="354965" indent="-342265" algn="just">
              <a:lnSpc>
                <a:spcPct val="150000"/>
              </a:lnSpc>
              <a:spcBef>
                <a:spcPts val="30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Population growth leads to </a:t>
            </a:r>
            <a:r>
              <a:rPr lang="en-US" b="1" dirty="0">
                <a:latin typeface="Times New Roman" panose="02020603050405020304" pitchFamily="18" charset="0"/>
                <a:cs typeface="Times New Roman" panose="02020603050405020304" pitchFamily="18" charset="0"/>
              </a:rPr>
              <a:t>increase in energy demand and emissions.</a:t>
            </a:r>
          </a:p>
          <a:p>
            <a:pPr marL="354965" indent="-342265" algn="just">
              <a:lnSpc>
                <a:spcPct val="150000"/>
              </a:lnSpc>
              <a:spcBef>
                <a:spcPts val="30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Developing countries show </a:t>
            </a:r>
            <a:r>
              <a:rPr lang="en-US" b="1" dirty="0">
                <a:latin typeface="Times New Roman" panose="02020603050405020304" pitchFamily="18" charset="0"/>
                <a:cs typeface="Times New Roman" panose="02020603050405020304" pitchFamily="18" charset="0"/>
              </a:rPr>
              <a:t>rapid population-driven impact.</a:t>
            </a:r>
          </a:p>
          <a:p>
            <a:pPr marL="354965" indent="-342265" algn="just">
              <a:lnSpc>
                <a:spcPct val="150000"/>
              </a:lnSpc>
              <a:spcBef>
                <a:spcPts val="30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Some developed countries control emissions despite population changes</a:t>
            </a:r>
            <a:r>
              <a:rPr lang="en-US" b="1" dirty="0">
                <a:latin typeface="Times New Roman" panose="02020603050405020304" pitchFamily="18" charset="0"/>
                <a:cs typeface="Times New Roman" panose="02020603050405020304" pitchFamily="18" charset="0"/>
              </a:rPr>
              <a:t>.</a:t>
            </a:r>
          </a:p>
          <a:p>
            <a:pPr marL="354965" indent="-342265" algn="just">
              <a:lnSpc>
                <a:spcPct val="150000"/>
              </a:lnSpc>
              <a:spcBef>
                <a:spcPts val="30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Focus required on </a:t>
            </a:r>
            <a:r>
              <a:rPr lang="en-US" b="1" dirty="0">
                <a:latin typeface="Times New Roman" panose="02020603050405020304" pitchFamily="18" charset="0"/>
                <a:cs typeface="Times New Roman" panose="02020603050405020304" pitchFamily="18" charset="0"/>
              </a:rPr>
              <a:t>efficient energy usage per person</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70832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017776" y="656336"/>
            <a:ext cx="8152765" cy="632460"/>
          </a:xfrm>
          <a:prstGeom prst="rect">
            <a:avLst/>
          </a:prstGeom>
        </p:spPr>
        <p:txBody>
          <a:bodyPr vert="horz" wrap="square" lIns="0" tIns="16510" rIns="0" bIns="0" rtlCol="0">
            <a:spAutoFit/>
          </a:bodyPr>
          <a:lstStyle/>
          <a:p>
            <a:pPr marL="12700">
              <a:lnSpc>
                <a:spcPct val="100000"/>
              </a:lnSpc>
              <a:spcBef>
                <a:spcPts val="130"/>
              </a:spcBef>
            </a:pPr>
            <a:r>
              <a:rPr dirty="0"/>
              <a:t>Key</a:t>
            </a:r>
            <a:r>
              <a:rPr spc="80" dirty="0"/>
              <a:t> </a:t>
            </a:r>
            <a:r>
              <a:rPr dirty="0"/>
              <a:t>Insights</a:t>
            </a:r>
            <a:r>
              <a:rPr spc="20" dirty="0"/>
              <a:t> </a:t>
            </a:r>
            <a:r>
              <a:rPr dirty="0"/>
              <a:t>and</a:t>
            </a:r>
            <a:r>
              <a:rPr spc="20" dirty="0"/>
              <a:t> </a:t>
            </a:r>
            <a:r>
              <a:rPr spc="-10" dirty="0"/>
              <a:t>Recommendations</a:t>
            </a:r>
          </a:p>
        </p:txBody>
      </p:sp>
      <p:sp>
        <p:nvSpPr>
          <p:cNvPr id="3" name="object 3"/>
          <p:cNvSpPr txBox="1"/>
          <p:nvPr/>
        </p:nvSpPr>
        <p:spPr>
          <a:xfrm>
            <a:off x="1066800" y="1981200"/>
            <a:ext cx="10287000" cy="2564100"/>
          </a:xfrm>
          <a:prstGeom prst="rect">
            <a:avLst/>
          </a:prstGeom>
        </p:spPr>
        <p:txBody>
          <a:bodyPr vert="horz" wrap="square" lIns="0" tIns="53975" rIns="0" bIns="0" rtlCol="0">
            <a:spAutoFit/>
          </a:bodyPr>
          <a:lstStyle/>
          <a:p>
            <a:pPr marL="12700" algn="just">
              <a:lnSpc>
                <a:spcPct val="100000"/>
              </a:lnSpc>
              <a:spcBef>
                <a:spcPts val="425"/>
              </a:spcBef>
            </a:pPr>
            <a:r>
              <a:rPr lang="en-IN" b="1" dirty="0">
                <a:latin typeface="Times New Roman" panose="02020603050405020304" pitchFamily="18" charset="0"/>
                <a:cs typeface="Times New Roman" panose="02020603050405020304" pitchFamily="18" charset="0"/>
              </a:rPr>
              <a:t>Overall</a:t>
            </a:r>
            <a:endParaRPr lang="en-IN" b="1" spc="-10" dirty="0">
              <a:latin typeface="Times New Roman" panose="02020603050405020304" pitchFamily="18" charset="0"/>
              <a:cs typeface="Times New Roman" panose="02020603050405020304" pitchFamily="18" charset="0"/>
            </a:endParaRPr>
          </a:p>
          <a:p>
            <a:pPr marL="12700" algn="just">
              <a:lnSpc>
                <a:spcPct val="150000"/>
              </a:lnSpc>
              <a:spcBef>
                <a:spcPts val="425"/>
              </a:spcBef>
            </a:pPr>
            <a:endParaRPr dirty="0">
              <a:latin typeface="Times New Roman"/>
              <a:cs typeface="Times New Roman"/>
            </a:endParaRPr>
          </a:p>
          <a:p>
            <a:pPr marL="354965" indent="-342265" algn="just">
              <a:lnSpc>
                <a:spcPct val="150000"/>
              </a:lnSpc>
              <a:spcBef>
                <a:spcPts val="30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Energy, economy, and emissions are </a:t>
            </a:r>
            <a:r>
              <a:rPr lang="en-US" b="1" dirty="0">
                <a:latin typeface="Times New Roman" panose="02020603050405020304" pitchFamily="18" charset="0"/>
                <a:cs typeface="Times New Roman" panose="02020603050405020304" pitchFamily="18" charset="0"/>
              </a:rPr>
              <a:t>strongly interconnected.</a:t>
            </a:r>
          </a:p>
          <a:p>
            <a:pPr marL="354965" indent="-342265" algn="just">
              <a:lnSpc>
                <a:spcPct val="150000"/>
              </a:lnSpc>
              <a:spcBef>
                <a:spcPts val="30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Few countries (majorly </a:t>
            </a:r>
            <a:r>
              <a:rPr lang="en-US" dirty="0" err="1">
                <a:latin typeface="Times New Roman" panose="02020603050405020304" pitchFamily="18" charset="0"/>
                <a:cs typeface="Times New Roman" panose="02020603050405020304" pitchFamily="18" charset="0"/>
              </a:rPr>
              <a:t>China,US,India,Russia</a:t>
            </a:r>
            <a:r>
              <a:rPr lang="en-US" dirty="0">
                <a:latin typeface="Times New Roman" panose="02020603050405020304" pitchFamily="18" charset="0"/>
                <a:cs typeface="Times New Roman" panose="02020603050405020304" pitchFamily="18" charset="0"/>
              </a:rPr>
              <a:t>) contribute </a:t>
            </a:r>
            <a:r>
              <a:rPr lang="en-US" b="1" dirty="0">
                <a:latin typeface="Times New Roman" panose="02020603050405020304" pitchFamily="18" charset="0"/>
                <a:cs typeface="Times New Roman" panose="02020603050405020304" pitchFamily="18" charset="0"/>
              </a:rPr>
              <a:t>major share of global emissions.</a:t>
            </a:r>
          </a:p>
          <a:p>
            <a:pPr marL="354965" indent="-342265" algn="just">
              <a:lnSpc>
                <a:spcPct val="150000"/>
              </a:lnSpc>
              <a:spcBef>
                <a:spcPts val="30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Per capita analysis shows </a:t>
            </a:r>
            <a:r>
              <a:rPr lang="en-US" b="1" dirty="0">
                <a:latin typeface="Times New Roman" panose="02020603050405020304" pitchFamily="18" charset="0"/>
                <a:cs typeface="Times New Roman" panose="02020603050405020304" pitchFamily="18" charset="0"/>
              </a:rPr>
              <a:t>huge inequality across countries.</a:t>
            </a:r>
          </a:p>
          <a:p>
            <a:pPr marL="354965" indent="-342265" algn="just">
              <a:lnSpc>
                <a:spcPct val="150000"/>
              </a:lnSpc>
              <a:spcBef>
                <a:spcPts val="300"/>
              </a:spcBef>
              <a:buSzPct val="90000"/>
              <a:buFont typeface="Wingdings"/>
              <a:buChar char=""/>
              <a:tabLst>
                <a:tab pos="354965" algn="l"/>
              </a:tabLst>
            </a:pPr>
            <a:r>
              <a:rPr lang="en-US" dirty="0">
                <a:latin typeface="Times New Roman" panose="02020603050405020304" pitchFamily="18" charset="0"/>
                <a:cs typeface="Times New Roman" panose="02020603050405020304" pitchFamily="18" charset="0"/>
              </a:rPr>
              <a:t>Future focus should be on </a:t>
            </a:r>
            <a:r>
              <a:rPr lang="en-US" b="1" dirty="0">
                <a:latin typeface="Times New Roman" panose="02020603050405020304" pitchFamily="18" charset="0"/>
                <a:cs typeface="Times New Roman" panose="02020603050405020304" pitchFamily="18" charset="0"/>
              </a:rPr>
              <a:t>sustainable energy + efficiency + policy changes</a:t>
            </a:r>
            <a:r>
              <a:rPr lang="en-US" b="1" dirty="0"/>
              <a:t>.</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5959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5747" y="206755"/>
            <a:ext cx="11059160" cy="1088118"/>
          </a:xfrm>
          <a:prstGeom prst="rect">
            <a:avLst/>
          </a:prstGeom>
        </p:spPr>
        <p:txBody>
          <a:bodyPr vert="horz" wrap="square" lIns="0" tIns="475615" rIns="0" bIns="0" rtlCol="0">
            <a:spAutoFit/>
          </a:bodyPr>
          <a:lstStyle/>
          <a:p>
            <a:pPr marL="4577080">
              <a:lnSpc>
                <a:spcPct val="100000"/>
              </a:lnSpc>
              <a:spcBef>
                <a:spcPts val="130"/>
              </a:spcBef>
            </a:pPr>
            <a:r>
              <a:rPr b="1" spc="-10" dirty="0"/>
              <a:t>Conclusion</a:t>
            </a:r>
          </a:p>
        </p:txBody>
      </p:sp>
      <p:sp>
        <p:nvSpPr>
          <p:cNvPr id="3" name="object 3"/>
          <p:cNvSpPr txBox="1"/>
          <p:nvPr/>
        </p:nvSpPr>
        <p:spPr>
          <a:xfrm>
            <a:off x="1094168" y="1981200"/>
            <a:ext cx="10252075" cy="1293944"/>
          </a:xfrm>
          <a:prstGeom prst="rect">
            <a:avLst/>
          </a:prstGeom>
        </p:spPr>
        <p:txBody>
          <a:bodyPr vert="horz" wrap="square" lIns="0" tIns="46990" rIns="0" bIns="0" rtlCol="0">
            <a:spAutoFit/>
          </a:bodyPr>
          <a:lstStyle/>
          <a:p>
            <a:pPr marL="12700" marR="5080" algn="just">
              <a:lnSpc>
                <a:spcPct val="89900"/>
              </a:lnSpc>
              <a:spcBef>
                <a:spcPts val="370"/>
              </a:spcBef>
            </a:pPr>
            <a:r>
              <a:rPr lang="en-US" dirty="0">
                <a:latin typeface="Times New Roman" panose="02020603050405020304" pitchFamily="18" charset="0"/>
                <a:cs typeface="Times New Roman" panose="02020603050405020304" pitchFamily="18" charset="0"/>
              </a:rPr>
              <a:t>Global energy consumption and emissions are steadily increasing alongside economic growth and population expansion. A few countries contribute a major share of global emissions, while many others have comparatively lower impact. The rising demand for energy highlights the strong link between development and resource usage. Therefore, adopting sustainable energy sources and improving efficiency is essential for balancing growth with environmental responsibility.</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5747" y="206755"/>
            <a:ext cx="11059160" cy="1088118"/>
          </a:xfrm>
          <a:prstGeom prst="rect">
            <a:avLst/>
          </a:prstGeom>
        </p:spPr>
        <p:txBody>
          <a:bodyPr vert="horz" wrap="square" lIns="0" tIns="475615" rIns="0" bIns="0" rtlCol="0">
            <a:spAutoFit/>
          </a:bodyPr>
          <a:lstStyle/>
          <a:p>
            <a:pPr marL="664210">
              <a:lnSpc>
                <a:spcPct val="100000"/>
              </a:lnSpc>
              <a:spcBef>
                <a:spcPts val="130"/>
              </a:spcBef>
            </a:pPr>
            <a:r>
              <a:rPr b="1" dirty="0"/>
              <a:t>Challenges</a:t>
            </a:r>
            <a:r>
              <a:rPr b="1" spc="120" dirty="0"/>
              <a:t> </a:t>
            </a:r>
            <a:r>
              <a:rPr b="1" spc="-10" dirty="0"/>
              <a:t>Faced</a:t>
            </a:r>
          </a:p>
        </p:txBody>
      </p:sp>
      <p:sp>
        <p:nvSpPr>
          <p:cNvPr id="3" name="object 3"/>
          <p:cNvSpPr txBox="1"/>
          <p:nvPr/>
        </p:nvSpPr>
        <p:spPr>
          <a:xfrm>
            <a:off x="701040" y="1692274"/>
            <a:ext cx="10918825" cy="3934026"/>
          </a:xfrm>
          <a:prstGeom prst="rect">
            <a:avLst/>
          </a:prstGeom>
        </p:spPr>
        <p:txBody>
          <a:bodyPr vert="horz" wrap="square" lIns="0" tIns="16510" rIns="0" bIns="0" rtlCol="0">
            <a:spAutoFit/>
          </a:bodyPr>
          <a:lstStyle/>
          <a:p>
            <a:pPr marL="355600" indent="-342900" algn="just">
              <a:lnSpc>
                <a:spcPts val="2290"/>
              </a:lnSpc>
              <a:spcBef>
                <a:spcPts val="130"/>
              </a:spcBef>
              <a:buSzPct val="90000"/>
              <a:buFont typeface="Wingdings"/>
              <a:buChar char=""/>
              <a:tabLst>
                <a:tab pos="355600" algn="l"/>
              </a:tabLst>
            </a:pPr>
            <a:r>
              <a:rPr lang="en-US" dirty="0"/>
              <a:t>Comparing multiple query results to derive final insights was sometimes complex but also helped in deeper analysis.</a:t>
            </a:r>
          </a:p>
          <a:p>
            <a:pPr marL="355600" indent="-342900" algn="just">
              <a:lnSpc>
                <a:spcPts val="2290"/>
              </a:lnSpc>
              <a:spcBef>
                <a:spcPts val="130"/>
              </a:spcBef>
              <a:buSzPct val="90000"/>
              <a:buFont typeface="Wingdings"/>
              <a:buChar char=""/>
              <a:tabLst>
                <a:tab pos="355600" algn="l"/>
              </a:tabLst>
            </a:pPr>
            <a:endParaRPr lang="en-US" dirty="0"/>
          </a:p>
          <a:p>
            <a:pPr marL="355600" indent="-342900" algn="just">
              <a:lnSpc>
                <a:spcPts val="2290"/>
              </a:lnSpc>
              <a:spcBef>
                <a:spcPts val="130"/>
              </a:spcBef>
              <a:buSzPct val="90000"/>
              <a:buFont typeface="Wingdings"/>
              <a:buChar char=""/>
              <a:tabLst>
                <a:tab pos="355600" algn="l"/>
              </a:tabLst>
            </a:pPr>
            <a:r>
              <a:rPr lang="en-US" dirty="0"/>
              <a:t>Analyzing trends across different countries and years was challenging due to fluctuations and inconsistent patterns.</a:t>
            </a:r>
          </a:p>
          <a:p>
            <a:pPr marL="355600" indent="-342900" algn="just">
              <a:lnSpc>
                <a:spcPts val="2290"/>
              </a:lnSpc>
              <a:spcBef>
                <a:spcPts val="130"/>
              </a:spcBef>
              <a:buSzPct val="90000"/>
              <a:buFont typeface="Wingdings"/>
              <a:buChar char=""/>
              <a:tabLst>
                <a:tab pos="355600" algn="l"/>
              </a:tabLst>
            </a:pPr>
            <a:endParaRPr lang="en-US" dirty="0">
              <a:latin typeface="Times New Roman"/>
              <a:cs typeface="Times New Roman"/>
            </a:endParaRPr>
          </a:p>
          <a:p>
            <a:pPr marL="355600" indent="-342900" algn="just">
              <a:lnSpc>
                <a:spcPts val="2290"/>
              </a:lnSpc>
              <a:spcBef>
                <a:spcPts val="130"/>
              </a:spcBef>
              <a:buSzPct val="90000"/>
              <a:buFont typeface="Wingdings"/>
              <a:buChar char=""/>
              <a:tabLst>
                <a:tab pos="355600" algn="l"/>
              </a:tabLst>
            </a:pPr>
            <a:r>
              <a:rPr lang="en-US" dirty="0"/>
              <a:t>Writing queries with window functions like LAG() for YoY analysis was challenging to understand and implement correctly.</a:t>
            </a:r>
          </a:p>
          <a:p>
            <a:pPr marL="355600" indent="-342900" algn="just">
              <a:lnSpc>
                <a:spcPts val="2290"/>
              </a:lnSpc>
              <a:spcBef>
                <a:spcPts val="130"/>
              </a:spcBef>
              <a:buSzPct val="90000"/>
              <a:buFont typeface="Wingdings"/>
              <a:buChar char=""/>
              <a:tabLst>
                <a:tab pos="355600" algn="l"/>
              </a:tabLst>
            </a:pPr>
            <a:endParaRPr lang="en-US" dirty="0"/>
          </a:p>
          <a:p>
            <a:pPr marL="355600" indent="-342900" algn="just">
              <a:lnSpc>
                <a:spcPts val="2290"/>
              </a:lnSpc>
              <a:spcBef>
                <a:spcPts val="130"/>
              </a:spcBef>
              <a:buSzPct val="90000"/>
              <a:buFont typeface="Wingdings"/>
              <a:buChar char=""/>
              <a:tabLst>
                <a:tab pos="355600" algn="l"/>
              </a:tabLst>
            </a:pPr>
            <a:r>
              <a:rPr lang="en-US" dirty="0"/>
              <a:t>Calculating ratios such as emission-to-GDP and per capita values needed proper aggregation and accurate joins.</a:t>
            </a:r>
          </a:p>
          <a:p>
            <a:pPr marL="355600" indent="-342900" algn="just">
              <a:lnSpc>
                <a:spcPts val="2290"/>
              </a:lnSpc>
              <a:spcBef>
                <a:spcPts val="130"/>
              </a:spcBef>
              <a:buSzPct val="90000"/>
              <a:buFont typeface="Wingdings"/>
              <a:buChar char=""/>
              <a:tabLst>
                <a:tab pos="355600" algn="l"/>
              </a:tabLst>
            </a:pPr>
            <a:endParaRPr lang="en-US" dirty="0"/>
          </a:p>
          <a:p>
            <a:pPr marL="355600" indent="-342900" algn="just">
              <a:lnSpc>
                <a:spcPts val="2290"/>
              </a:lnSpc>
              <a:spcBef>
                <a:spcPts val="130"/>
              </a:spcBef>
              <a:buSzPct val="90000"/>
              <a:buFont typeface="Wingdings"/>
              <a:buChar char=""/>
              <a:tabLst>
                <a:tab pos="355600" algn="l"/>
              </a:tabLst>
            </a:pPr>
            <a:endParaRPr dirty="0">
              <a:latin typeface="Times New Roman"/>
              <a:cs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599" y="2997200"/>
            <a:ext cx="4741421"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a:t>
            </a:r>
          </a:p>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YOU</a:t>
            </a:r>
            <a:endParaRPr sz="1800" b="0" i="0" u="none" strike="noStrike" cap="none" dirty="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TM02836342[[fn=Ion]]</Template>
  <TotalTime>1160</TotalTime>
  <Words>1840</Words>
  <Application>Microsoft Office PowerPoint</Application>
  <PresentationFormat>Widescreen</PresentationFormat>
  <Paragraphs>245</Paragraphs>
  <Slides>34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gg sans</vt:lpstr>
      <vt:lpstr>Libre Baskerville</vt:lpstr>
      <vt:lpstr>Roboto</vt:lpstr>
      <vt:lpstr>Times New Roman</vt:lpstr>
      <vt:lpstr>Wingdings</vt:lpstr>
      <vt:lpstr>Office Theme</vt:lpstr>
      <vt:lpstr>World-wide Energy Consumption &amp; Emission Analysis</vt:lpstr>
      <vt:lpstr>About Us</vt:lpstr>
      <vt:lpstr>Introduction</vt:lpstr>
      <vt:lpstr>Objective of the Project</vt:lpstr>
      <vt:lpstr>ABOUT TABLES</vt:lpstr>
      <vt:lpstr>PowerPoint Presentation</vt:lpstr>
      <vt:lpstr>Sample inserted values:</vt:lpstr>
      <vt:lpstr>PowerPoint Presentation</vt:lpstr>
      <vt:lpstr>ER Diagram and schema explanation</vt:lpstr>
      <vt:lpstr>General &amp; Comparative Analysis.  1. What is the total emission per country for the most recent year available?</vt:lpstr>
      <vt:lpstr>   2. What are the top 5 countries by GDP in the most recent year?</vt:lpstr>
      <vt:lpstr>PowerPoint Presentation</vt:lpstr>
      <vt:lpstr>4. Which energy types contribute most to emissions across all countries?</vt:lpstr>
      <vt:lpstr>Trend Analysis Over Time  1. How have global emissions changed year over year?</vt:lpstr>
      <vt:lpstr>2. What is the trend in GDP for each country over the given years?</vt:lpstr>
      <vt:lpstr>3. How has population growth affected total emissions in each country?</vt:lpstr>
      <vt:lpstr>PowerPoint Presentation</vt:lpstr>
      <vt:lpstr>5.Which energy sources show the fastest growth in consumption over time across all countries?</vt:lpstr>
      <vt:lpstr> Ratio &amp; Per Capita Analysis.  1. What is the emission-to-GDP ratio for each country by year?  Query</vt:lpstr>
      <vt:lpstr>2. What is the energy consumption per capita for each country over the last decade?  Query</vt:lpstr>
      <vt:lpstr>3. How does energy production per capita vary across countries?  Query       Output</vt:lpstr>
      <vt:lpstr>PowerPoint Presentation</vt:lpstr>
      <vt:lpstr> Global Comparisons  1. What are the top 10 countries by population and how do their emissions compare?  Query</vt:lpstr>
      <vt:lpstr>2. Which countries have reduced their total emissions the most over time?    Query</vt:lpstr>
      <vt:lpstr>3. What is the global share (%) of emissions by country?</vt:lpstr>
      <vt:lpstr>4. What is the global average GDP, emission, and population by year?</vt:lpstr>
      <vt:lpstr>Key Insights and Recommendations</vt:lpstr>
      <vt:lpstr>Key Insights and Recommendations</vt:lpstr>
      <vt:lpstr>Key Insights and Recommendations</vt:lpstr>
      <vt:lpstr>Key Insights and Recommendations</vt:lpstr>
      <vt:lpstr>Key Insights and Recommendations</vt:lpstr>
      <vt:lpstr>Conclusion</vt:lpstr>
      <vt:lpstr>Challenges Faced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Satish Rayudu</cp:lastModifiedBy>
  <cp:revision>71</cp:revision>
  <dcterms:created xsi:type="dcterms:W3CDTF">2026-04-03T08:05:22Z</dcterms:created>
  <dcterms:modified xsi:type="dcterms:W3CDTF">2026-04-07T08:45:29Z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2025-10-19T00:00:00Z</vt:filetime>
  </property>
  <property fmtid="{D5CDD505-2E9C-101B-9397-08002B2CF9AE}" pid="3" name="LastSaved">
    <vt:filetime>2026-04-03T00:00:00Z</vt:filetime>
  </property>
</Properties>
</file>